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000000"/>
                </a:solidFill>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20" name="Shape 0"/>
          <p:cNvSpPr/>
          <p:nvPr/>
        </p:nvSpPr>
        <p:spPr>
          <a:xfrm>
            <a:off x="9692640" y="-1463040"/>
            <a:ext cx="4114801" cy="4114801"/>
          </a:xfrm>
          <a:prstGeom prst="ellipse">
            <a:avLst/>
          </a:prstGeom>
          <a:solidFill>
            <a:srgbClr val="2E3A8C"/>
          </a:solidFill>
          <a:ln w="12700">
            <a:miter lim="400000"/>
          </a:ln>
        </p:spPr>
        <p:txBody>
          <a:bodyPr lIns="45719" rIns="45719"/>
          <a:lstStyle/>
          <a:p>
            <a:pPr>
              <a:defRPr sz="1800">
                <a:solidFill>
                  <a:srgbClr val="000000"/>
                </a:solidFill>
              </a:defRPr>
            </a:pPr>
          </a:p>
        </p:txBody>
      </p:sp>
      <p:sp>
        <p:nvSpPr>
          <p:cNvPr id="21" name="Shape 1"/>
          <p:cNvSpPr/>
          <p:nvPr/>
        </p:nvSpPr>
        <p:spPr>
          <a:xfrm>
            <a:off x="-1463041" y="4937759"/>
            <a:ext cx="3291842" cy="3291841"/>
          </a:xfrm>
          <a:prstGeom prst="ellipse">
            <a:avLst/>
          </a:prstGeom>
          <a:solidFill>
            <a:srgbClr val="2E3A8C"/>
          </a:solidFill>
          <a:ln w="12700">
            <a:miter lim="400000"/>
          </a:ln>
        </p:spPr>
        <p:txBody>
          <a:bodyPr lIns="45719" rIns="45719"/>
          <a:lstStyle/>
          <a:p>
            <a:pPr>
              <a:defRPr sz="2000">
                <a:solidFill>
                  <a:srgbClr val="000000"/>
                </a:solidFill>
              </a:defRPr>
            </a:pPr>
          </a:p>
        </p:txBody>
      </p:sp>
      <p:sp>
        <p:nvSpPr>
          <p:cNvPr id="22" name="Text 3"/>
          <p:cNvSpPr txBox="1"/>
          <p:nvPr/>
        </p:nvSpPr>
        <p:spPr>
          <a:xfrm>
            <a:off x="2720339" y="1052830"/>
            <a:ext cx="10424161" cy="688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4000">
                <a:solidFill>
                  <a:srgbClr val="FFFFFF"/>
                </a:solidFill>
                <a:latin typeface="Cambria"/>
                <a:ea typeface="Cambria"/>
                <a:cs typeface="Cambria"/>
                <a:sym typeface="Cambria"/>
              </a:defRPr>
            </a:lvl1pPr>
          </a:lstStyle>
          <a:p>
            <a:pPr/>
            <a:r>
              <a:t>Database Management Systems</a:t>
            </a:r>
          </a:p>
        </p:txBody>
      </p:sp>
      <p:sp>
        <p:nvSpPr>
          <p:cNvPr id="23" name="Text 4"/>
          <p:cNvSpPr txBox="1"/>
          <p:nvPr/>
        </p:nvSpPr>
        <p:spPr>
          <a:xfrm>
            <a:off x="3520440" y="1825823"/>
            <a:ext cx="10424160"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CADCFC"/>
                </a:solidFill>
              </a:defRPr>
            </a:lvl1pPr>
          </a:lstStyle>
          <a:p>
            <a:pPr/>
            <a:r>
              <a:t>CO1 — Assessment Tool 3: Technical Presentation</a:t>
            </a:r>
          </a:p>
        </p:txBody>
      </p:sp>
      <p:sp>
        <p:nvSpPr>
          <p:cNvPr id="24" name="Shape 5"/>
          <p:cNvSpPr/>
          <p:nvPr/>
        </p:nvSpPr>
        <p:spPr>
          <a:xfrm>
            <a:off x="591819" y="4076700"/>
            <a:ext cx="10698482" cy="1554481"/>
          </a:xfrm>
          <a:prstGeom prst="roundRect">
            <a:avLst>
              <a:gd name="adj" fmla="val 4706"/>
            </a:avLst>
          </a:prstGeom>
          <a:solidFill>
            <a:srgbClr val="263480"/>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000">
                <a:solidFill>
                  <a:srgbClr val="000000"/>
                </a:solidFill>
              </a:defRPr>
            </a:pPr>
          </a:p>
        </p:txBody>
      </p:sp>
      <p:sp>
        <p:nvSpPr>
          <p:cNvPr id="25" name="Text 6"/>
          <p:cNvSpPr txBox="1"/>
          <p:nvPr/>
        </p:nvSpPr>
        <p:spPr>
          <a:xfrm>
            <a:off x="1051559" y="4351835"/>
            <a:ext cx="22860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20" sz="1200">
                <a:solidFill>
                  <a:srgbClr val="CADCFC"/>
                </a:solidFill>
              </a:defRPr>
            </a:lvl1pPr>
          </a:lstStyle>
          <a:p>
            <a:pPr/>
            <a:r>
              <a:t>COURSE CODE</a:t>
            </a:r>
          </a:p>
        </p:txBody>
      </p:sp>
      <p:sp>
        <p:nvSpPr>
          <p:cNvPr id="26" name="Text 7"/>
          <p:cNvSpPr txBox="1"/>
          <p:nvPr/>
        </p:nvSpPr>
        <p:spPr>
          <a:xfrm>
            <a:off x="1051559" y="4862830"/>
            <a:ext cx="228600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FFFFFF"/>
                </a:solidFill>
                <a:latin typeface="Cambria"/>
                <a:ea typeface="Cambria"/>
                <a:cs typeface="Cambria"/>
                <a:sym typeface="Cambria"/>
              </a:defRPr>
            </a:lvl1pPr>
          </a:lstStyle>
          <a:p>
            <a:pPr/>
            <a:r>
              <a:t>CSA0504</a:t>
            </a:r>
          </a:p>
        </p:txBody>
      </p:sp>
      <p:sp>
        <p:nvSpPr>
          <p:cNvPr id="27" name="Text 8"/>
          <p:cNvSpPr txBox="1"/>
          <p:nvPr/>
        </p:nvSpPr>
        <p:spPr>
          <a:xfrm>
            <a:off x="3289300" y="4351835"/>
            <a:ext cx="228600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20" sz="1200">
                <a:solidFill>
                  <a:srgbClr val="CADCFC"/>
                </a:solidFill>
              </a:defRPr>
            </a:lvl1pPr>
          </a:lstStyle>
          <a:p>
            <a:pPr/>
            <a:r>
              <a:t>COURSE NAME</a:t>
            </a:r>
          </a:p>
        </p:txBody>
      </p:sp>
      <p:sp>
        <p:nvSpPr>
          <p:cNvPr id="28" name="Text 9"/>
          <p:cNvSpPr txBox="1"/>
          <p:nvPr/>
        </p:nvSpPr>
        <p:spPr>
          <a:xfrm>
            <a:off x="3289300" y="4742180"/>
            <a:ext cx="2286000" cy="574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FFFFFF"/>
                </a:solidFill>
                <a:latin typeface="Cambria"/>
                <a:ea typeface="Cambria"/>
                <a:cs typeface="Cambria"/>
                <a:sym typeface="Cambria"/>
              </a:defRPr>
            </a:lvl1pPr>
          </a:lstStyle>
          <a:p>
            <a:pPr/>
            <a:r>
              <a:t>Database Management Systems</a:t>
            </a:r>
          </a:p>
        </p:txBody>
      </p:sp>
      <p:sp>
        <p:nvSpPr>
          <p:cNvPr id="29" name="Text 10"/>
          <p:cNvSpPr txBox="1"/>
          <p:nvPr/>
        </p:nvSpPr>
        <p:spPr>
          <a:xfrm>
            <a:off x="6263640" y="4351835"/>
            <a:ext cx="22860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20" sz="1200">
                <a:solidFill>
                  <a:srgbClr val="CADCFC"/>
                </a:solidFill>
              </a:defRPr>
            </a:lvl1pPr>
          </a:lstStyle>
          <a:p>
            <a:pPr/>
            <a:r>
              <a:t>STUDENT NAME</a:t>
            </a:r>
          </a:p>
        </p:txBody>
      </p:sp>
      <p:sp>
        <p:nvSpPr>
          <p:cNvPr id="30" name="Text 11"/>
          <p:cNvSpPr txBox="1"/>
          <p:nvPr/>
        </p:nvSpPr>
        <p:spPr>
          <a:xfrm>
            <a:off x="6263640" y="4862830"/>
            <a:ext cx="228600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FFFFFF"/>
                </a:solidFill>
                <a:latin typeface="Cambria"/>
                <a:ea typeface="Cambria"/>
                <a:cs typeface="Cambria"/>
                <a:sym typeface="Cambria"/>
              </a:defRPr>
            </a:lvl1pPr>
          </a:lstStyle>
          <a:p>
            <a:pPr/>
            <a:r>
              <a:t>KISHAN RAM</a:t>
            </a:r>
          </a:p>
        </p:txBody>
      </p:sp>
      <p:sp>
        <p:nvSpPr>
          <p:cNvPr id="31" name="Text 12"/>
          <p:cNvSpPr txBox="1"/>
          <p:nvPr/>
        </p:nvSpPr>
        <p:spPr>
          <a:xfrm>
            <a:off x="8869679" y="4351835"/>
            <a:ext cx="228600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20" sz="1200">
                <a:solidFill>
                  <a:srgbClr val="CADCFC"/>
                </a:solidFill>
              </a:defRPr>
            </a:lvl1pPr>
          </a:lstStyle>
          <a:p>
            <a:pPr/>
            <a:r>
              <a:t>REG NO.</a:t>
            </a:r>
          </a:p>
        </p:txBody>
      </p:sp>
      <p:sp>
        <p:nvSpPr>
          <p:cNvPr id="32" name="Text 13"/>
          <p:cNvSpPr txBox="1"/>
          <p:nvPr/>
        </p:nvSpPr>
        <p:spPr>
          <a:xfrm>
            <a:off x="8755379" y="4862830"/>
            <a:ext cx="2286001"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FFFFFF"/>
                </a:solidFill>
                <a:latin typeface="Cambria"/>
                <a:ea typeface="Cambria"/>
                <a:cs typeface="Cambria"/>
                <a:sym typeface="Cambria"/>
              </a:defRPr>
            </a:lvl1pPr>
          </a:lstStyle>
          <a:p>
            <a:pPr/>
            <a:r>
              <a:t>192421268</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 name="Text 0"/>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Presentation Roadmap — 5 Topics</a:t>
            </a:r>
          </a:p>
        </p:txBody>
      </p:sp>
      <p:sp>
        <p:nvSpPr>
          <p:cNvPr id="35" name="Text 1"/>
          <p:cNvSpPr txBox="1"/>
          <p:nvPr/>
        </p:nvSpPr>
        <p:spPr>
          <a:xfrm>
            <a:off x="502919" y="1745418"/>
            <a:ext cx="1088136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vl1pPr>
          </a:lstStyle>
          <a:p>
            <a:pPr/>
            <a:r>
              <a:t>Each topic covers its core concept, worked examples, and a diagram, building toward CO1.</a:t>
            </a:r>
          </a:p>
        </p:txBody>
      </p:sp>
      <p:sp>
        <p:nvSpPr>
          <p:cNvPr id="36" name="Shape 2"/>
          <p:cNvSpPr/>
          <p:nvPr/>
        </p:nvSpPr>
        <p:spPr>
          <a:xfrm>
            <a:off x="457200" y="2377439"/>
            <a:ext cx="2044599" cy="3566161"/>
          </a:xfrm>
          <a:prstGeom prst="roundRect">
            <a:avLst>
              <a:gd name="adj" fmla="val 3578"/>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37" name="Shape 3"/>
          <p:cNvSpPr/>
          <p:nvPr/>
        </p:nvSpPr>
        <p:spPr>
          <a:xfrm>
            <a:off x="1159458" y="2697479"/>
            <a:ext cx="640081" cy="64008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8" name="Text 4"/>
          <p:cNvSpPr txBox="1"/>
          <p:nvPr/>
        </p:nvSpPr>
        <p:spPr>
          <a:xfrm>
            <a:off x="1205178" y="2863849"/>
            <a:ext cx="54864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FFFFFF"/>
                </a:solidFill>
                <a:latin typeface="Cambria"/>
                <a:ea typeface="Cambria"/>
                <a:cs typeface="Cambria"/>
                <a:sym typeface="Cambria"/>
              </a:defRPr>
            </a:lvl1pPr>
          </a:lstStyle>
          <a:p>
            <a:pPr/>
            <a:r>
              <a:t>01</a:t>
            </a:r>
          </a:p>
        </p:txBody>
      </p:sp>
      <p:sp>
        <p:nvSpPr>
          <p:cNvPr id="39" name="Text 5"/>
          <p:cNvSpPr txBox="1"/>
          <p:nvPr/>
        </p:nvSpPr>
        <p:spPr>
          <a:xfrm>
            <a:off x="640079" y="3566159"/>
            <a:ext cx="1678840"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500">
                <a:solidFill>
                  <a:srgbClr val="1E2761"/>
                </a:solidFill>
                <a:latin typeface="Cambria"/>
                <a:ea typeface="Cambria"/>
                <a:cs typeface="Cambria"/>
                <a:sym typeface="Cambria"/>
              </a:defRPr>
            </a:lvl1pPr>
          </a:lstStyle>
          <a:p>
            <a:pPr/>
            <a:r>
              <a:t>ER Diagram</a:t>
            </a:r>
          </a:p>
        </p:txBody>
      </p:sp>
      <p:sp>
        <p:nvSpPr>
          <p:cNvPr id="40" name="Text 6"/>
          <p:cNvSpPr txBox="1"/>
          <p:nvPr/>
        </p:nvSpPr>
        <p:spPr>
          <a:xfrm>
            <a:off x="640079" y="4434840"/>
            <a:ext cx="1678840" cy="225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100"/>
            </a:lvl1pPr>
          </a:lstStyle>
          <a:p>
            <a:pPr/>
            <a:r>
              <a:t>Online Library System</a:t>
            </a:r>
          </a:p>
        </p:txBody>
      </p:sp>
      <p:sp>
        <p:nvSpPr>
          <p:cNvPr id="41" name="Shape 7"/>
          <p:cNvSpPr/>
          <p:nvPr/>
        </p:nvSpPr>
        <p:spPr>
          <a:xfrm>
            <a:off x="2757829" y="2377439"/>
            <a:ext cx="2044599" cy="3566161"/>
          </a:xfrm>
          <a:prstGeom prst="roundRect">
            <a:avLst>
              <a:gd name="adj" fmla="val 3578"/>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42" name="Shape 8"/>
          <p:cNvSpPr/>
          <p:nvPr/>
        </p:nvSpPr>
        <p:spPr>
          <a:xfrm>
            <a:off x="3460089" y="2697479"/>
            <a:ext cx="640081" cy="64008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43" name="Text 9"/>
          <p:cNvSpPr txBox="1"/>
          <p:nvPr/>
        </p:nvSpPr>
        <p:spPr>
          <a:xfrm>
            <a:off x="3505810" y="2863849"/>
            <a:ext cx="54864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FFFFFF"/>
                </a:solidFill>
                <a:latin typeface="Cambria"/>
                <a:ea typeface="Cambria"/>
                <a:cs typeface="Cambria"/>
                <a:sym typeface="Cambria"/>
              </a:defRPr>
            </a:lvl1pPr>
          </a:lstStyle>
          <a:p>
            <a:pPr/>
            <a:r>
              <a:t>02</a:t>
            </a:r>
          </a:p>
        </p:txBody>
      </p:sp>
      <p:sp>
        <p:nvSpPr>
          <p:cNvPr id="44" name="Text 10"/>
          <p:cNvSpPr txBox="1"/>
          <p:nvPr/>
        </p:nvSpPr>
        <p:spPr>
          <a:xfrm>
            <a:off x="2940710" y="3566159"/>
            <a:ext cx="1678839"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500">
                <a:solidFill>
                  <a:srgbClr val="1E2761"/>
                </a:solidFill>
                <a:latin typeface="Cambria"/>
                <a:ea typeface="Cambria"/>
                <a:cs typeface="Cambria"/>
                <a:sym typeface="Cambria"/>
              </a:defRPr>
            </a:lvl1pPr>
          </a:lstStyle>
          <a:p>
            <a:pPr/>
            <a:r>
              <a:t>EER Model</a:t>
            </a:r>
          </a:p>
        </p:txBody>
      </p:sp>
      <p:sp>
        <p:nvSpPr>
          <p:cNvPr id="45" name="Text 11"/>
          <p:cNvSpPr txBox="1"/>
          <p:nvPr/>
        </p:nvSpPr>
        <p:spPr>
          <a:xfrm>
            <a:off x="2940710" y="4434840"/>
            <a:ext cx="1678839" cy="225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100"/>
            </a:lvl1pPr>
          </a:lstStyle>
          <a:p>
            <a:pPr/>
            <a:r>
              <a:t>University Case Study</a:t>
            </a:r>
          </a:p>
        </p:txBody>
      </p:sp>
      <p:sp>
        <p:nvSpPr>
          <p:cNvPr id="46" name="Shape 12"/>
          <p:cNvSpPr/>
          <p:nvPr/>
        </p:nvSpPr>
        <p:spPr>
          <a:xfrm>
            <a:off x="5058461" y="2377439"/>
            <a:ext cx="2044599" cy="3566161"/>
          </a:xfrm>
          <a:prstGeom prst="roundRect">
            <a:avLst>
              <a:gd name="adj" fmla="val 3578"/>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47" name="Shape 13"/>
          <p:cNvSpPr/>
          <p:nvPr/>
        </p:nvSpPr>
        <p:spPr>
          <a:xfrm>
            <a:off x="5760720" y="2697479"/>
            <a:ext cx="640081" cy="64008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48" name="Text 14"/>
          <p:cNvSpPr txBox="1"/>
          <p:nvPr/>
        </p:nvSpPr>
        <p:spPr>
          <a:xfrm>
            <a:off x="5806440" y="2863849"/>
            <a:ext cx="54864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FFFFFF"/>
                </a:solidFill>
                <a:latin typeface="Cambria"/>
                <a:ea typeface="Cambria"/>
                <a:cs typeface="Cambria"/>
                <a:sym typeface="Cambria"/>
              </a:defRPr>
            </a:lvl1pPr>
          </a:lstStyle>
          <a:p>
            <a:pPr/>
            <a:r>
              <a:t>03</a:t>
            </a:r>
          </a:p>
        </p:txBody>
      </p:sp>
      <p:sp>
        <p:nvSpPr>
          <p:cNvPr id="49" name="Text 15"/>
          <p:cNvSpPr txBox="1"/>
          <p:nvPr/>
        </p:nvSpPr>
        <p:spPr>
          <a:xfrm>
            <a:off x="5241340" y="3566159"/>
            <a:ext cx="1678839"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500">
                <a:solidFill>
                  <a:srgbClr val="1E2761"/>
                </a:solidFill>
                <a:latin typeface="Cambria"/>
                <a:ea typeface="Cambria"/>
                <a:cs typeface="Cambria"/>
                <a:sym typeface="Cambria"/>
              </a:defRPr>
            </a:lvl1pPr>
          </a:lstStyle>
          <a:p>
            <a:pPr/>
            <a:r>
              <a:t>Data Independence</a:t>
            </a:r>
          </a:p>
        </p:txBody>
      </p:sp>
      <p:sp>
        <p:nvSpPr>
          <p:cNvPr id="50" name="Text 16"/>
          <p:cNvSpPr txBox="1"/>
          <p:nvPr/>
        </p:nvSpPr>
        <p:spPr>
          <a:xfrm>
            <a:off x="5241340" y="4434840"/>
            <a:ext cx="1678839" cy="225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100"/>
            </a:lvl1pPr>
          </a:lstStyle>
          <a:p>
            <a:pPr/>
            <a:r>
              <a:t>Logical &amp; Physical</a:t>
            </a:r>
          </a:p>
        </p:txBody>
      </p:sp>
      <p:sp>
        <p:nvSpPr>
          <p:cNvPr id="51" name="Shape 17"/>
          <p:cNvSpPr/>
          <p:nvPr/>
        </p:nvSpPr>
        <p:spPr>
          <a:xfrm>
            <a:off x="7359091" y="2377439"/>
            <a:ext cx="2044599" cy="3566161"/>
          </a:xfrm>
          <a:prstGeom prst="roundRect">
            <a:avLst>
              <a:gd name="adj" fmla="val 3578"/>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52" name="Shape 18"/>
          <p:cNvSpPr/>
          <p:nvPr/>
        </p:nvSpPr>
        <p:spPr>
          <a:xfrm>
            <a:off x="8061349" y="2697479"/>
            <a:ext cx="640081" cy="64008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53" name="Text 19"/>
          <p:cNvSpPr txBox="1"/>
          <p:nvPr/>
        </p:nvSpPr>
        <p:spPr>
          <a:xfrm>
            <a:off x="8107069" y="2863849"/>
            <a:ext cx="54864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FFFFFF"/>
                </a:solidFill>
                <a:latin typeface="Cambria"/>
                <a:ea typeface="Cambria"/>
                <a:cs typeface="Cambria"/>
                <a:sym typeface="Cambria"/>
              </a:defRPr>
            </a:lvl1pPr>
          </a:lstStyle>
          <a:p>
            <a:pPr/>
            <a:r>
              <a:t>04</a:t>
            </a:r>
          </a:p>
        </p:txBody>
      </p:sp>
      <p:sp>
        <p:nvSpPr>
          <p:cNvPr id="54" name="Text 20"/>
          <p:cNvSpPr txBox="1"/>
          <p:nvPr/>
        </p:nvSpPr>
        <p:spPr>
          <a:xfrm>
            <a:off x="7541970" y="3566159"/>
            <a:ext cx="1678839"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500">
                <a:solidFill>
                  <a:srgbClr val="1E2761"/>
                </a:solidFill>
                <a:latin typeface="Cambria"/>
                <a:ea typeface="Cambria"/>
                <a:cs typeface="Cambria"/>
                <a:sym typeface="Cambria"/>
              </a:defRPr>
            </a:lvl1pPr>
          </a:lstStyle>
          <a:p>
            <a:pPr/>
            <a:r>
              <a:t>DBMS Components</a:t>
            </a:r>
          </a:p>
        </p:txBody>
      </p:sp>
      <p:sp>
        <p:nvSpPr>
          <p:cNvPr id="55" name="Text 21"/>
          <p:cNvSpPr txBox="1"/>
          <p:nvPr/>
        </p:nvSpPr>
        <p:spPr>
          <a:xfrm>
            <a:off x="7541970" y="4434840"/>
            <a:ext cx="1678839" cy="3908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100"/>
            </a:lvl1pPr>
          </a:lstStyle>
          <a:p>
            <a:pPr/>
            <a:r>
              <a:t>Query, Storage &amp; Transaction</a:t>
            </a:r>
          </a:p>
        </p:txBody>
      </p:sp>
      <p:sp>
        <p:nvSpPr>
          <p:cNvPr id="56" name="Shape 22"/>
          <p:cNvSpPr/>
          <p:nvPr/>
        </p:nvSpPr>
        <p:spPr>
          <a:xfrm>
            <a:off x="9659722" y="2377439"/>
            <a:ext cx="2044599" cy="3566161"/>
          </a:xfrm>
          <a:prstGeom prst="roundRect">
            <a:avLst>
              <a:gd name="adj" fmla="val 3578"/>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57" name="Shape 23"/>
          <p:cNvSpPr/>
          <p:nvPr/>
        </p:nvSpPr>
        <p:spPr>
          <a:xfrm>
            <a:off x="10361980" y="2697479"/>
            <a:ext cx="640081" cy="64008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58" name="Text 24"/>
          <p:cNvSpPr txBox="1"/>
          <p:nvPr/>
        </p:nvSpPr>
        <p:spPr>
          <a:xfrm>
            <a:off x="10407700" y="2863849"/>
            <a:ext cx="54864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FFFFFF"/>
                </a:solidFill>
                <a:latin typeface="Cambria"/>
                <a:ea typeface="Cambria"/>
                <a:cs typeface="Cambria"/>
                <a:sym typeface="Cambria"/>
              </a:defRPr>
            </a:lvl1pPr>
          </a:lstStyle>
          <a:p>
            <a:pPr/>
            <a:r>
              <a:t>05</a:t>
            </a:r>
          </a:p>
        </p:txBody>
      </p:sp>
      <p:sp>
        <p:nvSpPr>
          <p:cNvPr id="59" name="Text 25"/>
          <p:cNvSpPr txBox="1"/>
          <p:nvPr/>
        </p:nvSpPr>
        <p:spPr>
          <a:xfrm>
            <a:off x="9842601" y="3566159"/>
            <a:ext cx="1678839"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500">
                <a:solidFill>
                  <a:srgbClr val="1E2761"/>
                </a:solidFill>
                <a:latin typeface="Cambria"/>
                <a:ea typeface="Cambria"/>
                <a:cs typeface="Cambria"/>
                <a:sym typeface="Cambria"/>
              </a:defRPr>
            </a:lvl1pPr>
          </a:lstStyle>
          <a:p>
            <a:pPr/>
            <a:r>
              <a:t>Strong vs Weak Entities</a:t>
            </a:r>
          </a:p>
        </p:txBody>
      </p:sp>
      <p:sp>
        <p:nvSpPr>
          <p:cNvPr id="60" name="Text 26"/>
          <p:cNvSpPr txBox="1"/>
          <p:nvPr/>
        </p:nvSpPr>
        <p:spPr>
          <a:xfrm>
            <a:off x="9842601" y="4434840"/>
            <a:ext cx="1678839" cy="2257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100"/>
            </a:lvl1pPr>
          </a:lstStyle>
          <a:p>
            <a:pPr/>
            <a:r>
              <a:t>ER Modeling Comparison</a:t>
            </a:r>
          </a:p>
        </p:txBody>
      </p:sp>
      <p:sp>
        <p:nvSpPr>
          <p:cNvPr id="61" name="Text 27"/>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Database Management Systems · CSA05</a:t>
            </a:r>
          </a:p>
        </p:txBody>
      </p:sp>
      <p:sp>
        <p:nvSpPr>
          <p:cNvPr id="62" name="Text 28"/>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65"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1</a:t>
            </a:r>
          </a:p>
        </p:txBody>
      </p:sp>
      <p:sp>
        <p:nvSpPr>
          <p:cNvPr id="66"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TOPIC 1 OF 5</a:t>
            </a:r>
          </a:p>
        </p:txBody>
      </p:sp>
      <p:sp>
        <p:nvSpPr>
          <p:cNvPr id="67" name="Text 3"/>
          <p:cNvSpPr txBox="1"/>
          <p:nvPr/>
        </p:nvSpPr>
        <p:spPr>
          <a:xfrm>
            <a:off x="3093719" y="1554480"/>
            <a:ext cx="111556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ER Diagram: Online Library System</a:t>
            </a:r>
          </a:p>
        </p:txBody>
      </p:sp>
      <p:sp>
        <p:nvSpPr>
          <p:cNvPr id="68" name="Text 4"/>
          <p:cNvSpPr txBox="1"/>
          <p:nvPr/>
        </p:nvSpPr>
        <p:spPr>
          <a:xfrm>
            <a:off x="3093719" y="2377439"/>
            <a:ext cx="6400801" cy="244115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5000"/>
              </a:lnSpc>
              <a:defRPr sz="1900">
                <a:solidFill>
                  <a:srgbClr val="1E2761"/>
                </a:solidFill>
              </a:defRPr>
            </a:lvl1pPr>
          </a:lstStyle>
          <a:p>
            <a:pPr/>
            <a:r>
              <a:t>An Entity-Relationship (ER) diagram is the conceptual blueprint of a database. Before writing a single line of SQL, it lets us map out what real-world objects (entities) the Library System must track, what facts describe them (attributes), and how they connect (relationships) — catching design gaps early and giving developers, librarians, and stakeholders a shared, unambiguous picture of the data.</a:t>
            </a:r>
          </a:p>
        </p:txBody>
      </p:sp>
      <p:sp>
        <p:nvSpPr>
          <p:cNvPr id="69" name="Text 23"/>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72"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1</a:t>
            </a:r>
          </a:p>
        </p:txBody>
      </p:sp>
      <p:sp>
        <p:nvSpPr>
          <p:cNvPr id="73"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ENTITIES &amp; ATTRIBUTES</a:t>
            </a:r>
          </a:p>
        </p:txBody>
      </p:sp>
      <p:sp>
        <p:nvSpPr>
          <p:cNvPr id="74"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Identifying the Entities</a:t>
            </a:r>
          </a:p>
        </p:txBody>
      </p:sp>
      <p:sp>
        <p:nvSpPr>
          <p:cNvPr id="75" name="Shape 4"/>
          <p:cNvSpPr/>
          <p:nvPr/>
        </p:nvSpPr>
        <p:spPr>
          <a:xfrm>
            <a:off x="457200" y="1965960"/>
            <a:ext cx="3566160" cy="1508761"/>
          </a:xfrm>
          <a:prstGeom prst="roundRect">
            <a:avLst>
              <a:gd name="adj" fmla="val 4848"/>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76" name="Text 5"/>
          <p:cNvSpPr txBox="1"/>
          <p:nvPr/>
        </p:nvSpPr>
        <p:spPr>
          <a:xfrm>
            <a:off x="685800" y="2073147"/>
            <a:ext cx="3108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Book</a:t>
            </a:r>
          </a:p>
        </p:txBody>
      </p:sp>
      <p:sp>
        <p:nvSpPr>
          <p:cNvPr id="77" name="Text 6"/>
          <p:cNvSpPr txBox="1"/>
          <p:nvPr/>
        </p:nvSpPr>
        <p:spPr>
          <a:xfrm>
            <a:off x="685800" y="2468879"/>
            <a:ext cx="3108961" cy="55459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BookID (PK), Title, ISBN, Genre, Copies</a:t>
            </a:r>
          </a:p>
        </p:txBody>
      </p:sp>
      <p:sp>
        <p:nvSpPr>
          <p:cNvPr id="78" name="Shape 7"/>
          <p:cNvSpPr/>
          <p:nvPr/>
        </p:nvSpPr>
        <p:spPr>
          <a:xfrm>
            <a:off x="4297679" y="1965960"/>
            <a:ext cx="3566161" cy="1508761"/>
          </a:xfrm>
          <a:prstGeom prst="roundRect">
            <a:avLst>
              <a:gd name="adj" fmla="val 4848"/>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79" name="Text 8"/>
          <p:cNvSpPr txBox="1"/>
          <p:nvPr/>
        </p:nvSpPr>
        <p:spPr>
          <a:xfrm>
            <a:off x="4526279" y="2073147"/>
            <a:ext cx="3108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Member</a:t>
            </a:r>
          </a:p>
        </p:txBody>
      </p:sp>
      <p:sp>
        <p:nvSpPr>
          <p:cNvPr id="80" name="Text 9"/>
          <p:cNvSpPr txBox="1"/>
          <p:nvPr/>
        </p:nvSpPr>
        <p:spPr>
          <a:xfrm>
            <a:off x="4526279" y="2468879"/>
            <a:ext cx="3108961" cy="55459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MemberID (PK), Name, Email, Phone</a:t>
            </a:r>
          </a:p>
        </p:txBody>
      </p:sp>
      <p:sp>
        <p:nvSpPr>
          <p:cNvPr id="81" name="Shape 10"/>
          <p:cNvSpPr/>
          <p:nvPr/>
        </p:nvSpPr>
        <p:spPr>
          <a:xfrm>
            <a:off x="8138159" y="1965960"/>
            <a:ext cx="3566161" cy="1508761"/>
          </a:xfrm>
          <a:prstGeom prst="roundRect">
            <a:avLst>
              <a:gd name="adj" fmla="val 4848"/>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82" name="Text 11"/>
          <p:cNvSpPr txBox="1"/>
          <p:nvPr/>
        </p:nvSpPr>
        <p:spPr>
          <a:xfrm>
            <a:off x="8366759" y="2073147"/>
            <a:ext cx="3108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Author</a:t>
            </a:r>
          </a:p>
        </p:txBody>
      </p:sp>
      <p:sp>
        <p:nvSpPr>
          <p:cNvPr id="83" name="Text 12"/>
          <p:cNvSpPr txBox="1"/>
          <p:nvPr/>
        </p:nvSpPr>
        <p:spPr>
          <a:xfrm>
            <a:off x="8366759" y="2468879"/>
            <a:ext cx="3108961" cy="30059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AuthorID (PK), Name, Nationality</a:t>
            </a:r>
          </a:p>
        </p:txBody>
      </p:sp>
      <p:sp>
        <p:nvSpPr>
          <p:cNvPr id="84" name="Shape 13"/>
          <p:cNvSpPr/>
          <p:nvPr/>
        </p:nvSpPr>
        <p:spPr>
          <a:xfrm>
            <a:off x="457200" y="3749040"/>
            <a:ext cx="3566160" cy="1508761"/>
          </a:xfrm>
          <a:prstGeom prst="roundRect">
            <a:avLst>
              <a:gd name="adj" fmla="val 4848"/>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85" name="Text 14"/>
          <p:cNvSpPr txBox="1"/>
          <p:nvPr/>
        </p:nvSpPr>
        <p:spPr>
          <a:xfrm>
            <a:off x="685800" y="3856227"/>
            <a:ext cx="3108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Publisher</a:t>
            </a:r>
          </a:p>
        </p:txBody>
      </p:sp>
      <p:sp>
        <p:nvSpPr>
          <p:cNvPr id="86" name="Text 15"/>
          <p:cNvSpPr txBox="1"/>
          <p:nvPr/>
        </p:nvSpPr>
        <p:spPr>
          <a:xfrm>
            <a:off x="685800" y="4251959"/>
            <a:ext cx="3108961" cy="300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PublisherID (PK), Name, Address</a:t>
            </a:r>
          </a:p>
        </p:txBody>
      </p:sp>
      <p:sp>
        <p:nvSpPr>
          <p:cNvPr id="87" name="Shape 16"/>
          <p:cNvSpPr/>
          <p:nvPr/>
        </p:nvSpPr>
        <p:spPr>
          <a:xfrm>
            <a:off x="4297679" y="3749040"/>
            <a:ext cx="3566161" cy="1508761"/>
          </a:xfrm>
          <a:prstGeom prst="roundRect">
            <a:avLst>
              <a:gd name="adj" fmla="val 4848"/>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88" name="Text 17"/>
          <p:cNvSpPr txBox="1"/>
          <p:nvPr/>
        </p:nvSpPr>
        <p:spPr>
          <a:xfrm>
            <a:off x="4526279" y="3856227"/>
            <a:ext cx="3108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Librarian</a:t>
            </a:r>
          </a:p>
        </p:txBody>
      </p:sp>
      <p:sp>
        <p:nvSpPr>
          <p:cNvPr id="89" name="Text 18"/>
          <p:cNvSpPr txBox="1"/>
          <p:nvPr/>
        </p:nvSpPr>
        <p:spPr>
          <a:xfrm>
            <a:off x="4526279" y="4251959"/>
            <a:ext cx="3108961" cy="300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StaffID (PK), Name, Shift</a:t>
            </a:r>
          </a:p>
        </p:txBody>
      </p:sp>
      <p:sp>
        <p:nvSpPr>
          <p:cNvPr id="90" name="Shape 19"/>
          <p:cNvSpPr/>
          <p:nvPr/>
        </p:nvSpPr>
        <p:spPr>
          <a:xfrm>
            <a:off x="8138159" y="3749040"/>
            <a:ext cx="3566161" cy="1508761"/>
          </a:xfrm>
          <a:prstGeom prst="roundRect">
            <a:avLst>
              <a:gd name="adj" fmla="val 4848"/>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91" name="Text 20"/>
          <p:cNvSpPr txBox="1"/>
          <p:nvPr/>
        </p:nvSpPr>
        <p:spPr>
          <a:xfrm>
            <a:off x="8366759" y="3856227"/>
            <a:ext cx="31089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Loan (assoc.)</a:t>
            </a:r>
          </a:p>
        </p:txBody>
      </p:sp>
      <p:sp>
        <p:nvSpPr>
          <p:cNvPr id="92" name="Text 21"/>
          <p:cNvSpPr txBox="1"/>
          <p:nvPr/>
        </p:nvSpPr>
        <p:spPr>
          <a:xfrm>
            <a:off x="8366759" y="4251959"/>
            <a:ext cx="3108961" cy="554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LoanID (PK), IssueDate, DueDate, ReturnDate</a:t>
            </a:r>
          </a:p>
        </p:txBody>
      </p:sp>
      <p:sp>
        <p:nvSpPr>
          <p:cNvPr id="93" name="Text 22"/>
          <p:cNvSpPr txBox="1"/>
          <p:nvPr/>
        </p:nvSpPr>
        <p:spPr>
          <a:xfrm>
            <a:off x="502919" y="6536121"/>
            <a:ext cx="722376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lvl1pPr>
          </a:lstStyle>
          <a:p>
            <a:pPr/>
            <a:r>
              <a:t>Topic 1 · ER Diagram — Library System</a:t>
            </a:r>
          </a:p>
        </p:txBody>
      </p:sp>
      <p:sp>
        <p:nvSpPr>
          <p:cNvPr id="94" name="Text 23"/>
          <p:cNvSpPr txBox="1"/>
          <p:nvPr/>
        </p:nvSpPr>
        <p:spPr>
          <a:xfrm>
            <a:off x="11292839" y="6536121"/>
            <a:ext cx="36576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500"/>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97"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1</a:t>
            </a:r>
          </a:p>
        </p:txBody>
      </p:sp>
      <p:sp>
        <p:nvSpPr>
          <p:cNvPr id="98"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RELATIONSHIPS &amp; CARDINALITY</a:t>
            </a:r>
          </a:p>
        </p:txBody>
      </p:sp>
      <p:sp>
        <p:nvSpPr>
          <p:cNvPr id="99"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How the Entities Connect</a:t>
            </a:r>
          </a:p>
        </p:txBody>
      </p:sp>
      <p:sp>
        <p:nvSpPr>
          <p:cNvPr id="100" name="Shape 4"/>
          <p:cNvSpPr/>
          <p:nvPr/>
        </p:nvSpPr>
        <p:spPr>
          <a:xfrm>
            <a:off x="457200" y="1965960"/>
            <a:ext cx="11247120" cy="914401"/>
          </a:xfrm>
          <a:prstGeom prst="roundRect">
            <a:avLst>
              <a:gd name="adj" fmla="val 800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101" name="Text 5"/>
          <p:cNvSpPr txBox="1"/>
          <p:nvPr/>
        </p:nvSpPr>
        <p:spPr>
          <a:xfrm>
            <a:off x="731519" y="2267914"/>
            <a:ext cx="64922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defRPr>
            </a:lvl1pPr>
          </a:lstStyle>
          <a:p>
            <a:pPr/>
            <a:r>
              <a:t>Member — BORROWS — Book</a:t>
            </a:r>
          </a:p>
        </p:txBody>
      </p:sp>
      <p:sp>
        <p:nvSpPr>
          <p:cNvPr id="102" name="Shape 6"/>
          <p:cNvSpPr/>
          <p:nvPr/>
        </p:nvSpPr>
        <p:spPr>
          <a:xfrm>
            <a:off x="7406640" y="2167127"/>
            <a:ext cx="1005841" cy="512065"/>
          </a:xfrm>
          <a:prstGeom prst="roundRect">
            <a:avLst>
              <a:gd name="adj" fmla="val 17857"/>
            </a:avLst>
          </a:prstGeom>
          <a:solidFill>
            <a:srgbClr val="E8A33D"/>
          </a:solidFill>
          <a:ln w="12700">
            <a:miter lim="400000"/>
          </a:ln>
        </p:spPr>
        <p:txBody>
          <a:bodyPr lIns="45719" rIns="45719"/>
          <a:lstStyle/>
          <a:p>
            <a:pPr>
              <a:defRPr sz="2200">
                <a:solidFill>
                  <a:srgbClr val="000000"/>
                </a:solidFill>
              </a:defRPr>
            </a:pPr>
          </a:p>
        </p:txBody>
      </p:sp>
      <p:sp>
        <p:nvSpPr>
          <p:cNvPr id="103" name="Text 7"/>
          <p:cNvSpPr txBox="1"/>
          <p:nvPr/>
        </p:nvSpPr>
        <p:spPr>
          <a:xfrm>
            <a:off x="7452359" y="2256790"/>
            <a:ext cx="91440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1E2761"/>
                </a:solidFill>
                <a:latin typeface="Cambria"/>
                <a:ea typeface="Cambria"/>
                <a:cs typeface="Cambria"/>
                <a:sym typeface="Cambria"/>
              </a:defRPr>
            </a:lvl1pPr>
          </a:lstStyle>
          <a:p>
            <a:pPr/>
            <a:r>
              <a:t>M : N</a:t>
            </a:r>
          </a:p>
        </p:txBody>
      </p:sp>
      <p:sp>
        <p:nvSpPr>
          <p:cNvPr id="104" name="Text 8"/>
          <p:cNvSpPr txBox="1"/>
          <p:nvPr/>
        </p:nvSpPr>
        <p:spPr>
          <a:xfrm>
            <a:off x="8641079" y="2054160"/>
            <a:ext cx="2834641" cy="7380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lvl1pPr>
          </a:lstStyle>
          <a:p>
            <a:pPr/>
            <a:r>
              <a:t>Resolved via the Loan associative entity (each loan ties one member to one book copy).</a:t>
            </a:r>
          </a:p>
        </p:txBody>
      </p:sp>
      <p:sp>
        <p:nvSpPr>
          <p:cNvPr id="105" name="Shape 9"/>
          <p:cNvSpPr/>
          <p:nvPr/>
        </p:nvSpPr>
        <p:spPr>
          <a:xfrm>
            <a:off x="457200" y="3017520"/>
            <a:ext cx="11247120" cy="914401"/>
          </a:xfrm>
          <a:prstGeom prst="roundRect">
            <a:avLst>
              <a:gd name="adj" fmla="val 800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106" name="Text 10"/>
          <p:cNvSpPr txBox="1"/>
          <p:nvPr/>
        </p:nvSpPr>
        <p:spPr>
          <a:xfrm>
            <a:off x="731519" y="3319474"/>
            <a:ext cx="64922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defRPr>
            </a:lvl1pPr>
          </a:lstStyle>
          <a:p>
            <a:pPr/>
            <a:r>
              <a:t>Book — WRITTEN BY — Author</a:t>
            </a:r>
          </a:p>
        </p:txBody>
      </p:sp>
      <p:sp>
        <p:nvSpPr>
          <p:cNvPr id="107" name="Shape 11"/>
          <p:cNvSpPr/>
          <p:nvPr/>
        </p:nvSpPr>
        <p:spPr>
          <a:xfrm>
            <a:off x="7406640" y="3218688"/>
            <a:ext cx="1005841" cy="512065"/>
          </a:xfrm>
          <a:prstGeom prst="roundRect">
            <a:avLst>
              <a:gd name="adj" fmla="val 17857"/>
            </a:avLst>
          </a:prstGeom>
          <a:solidFill>
            <a:srgbClr val="E8A33D"/>
          </a:solidFill>
          <a:ln w="12700">
            <a:miter lim="400000"/>
          </a:ln>
        </p:spPr>
        <p:txBody>
          <a:bodyPr lIns="45719" rIns="45719"/>
          <a:lstStyle/>
          <a:p>
            <a:pPr>
              <a:defRPr sz="2200">
                <a:solidFill>
                  <a:srgbClr val="000000"/>
                </a:solidFill>
              </a:defRPr>
            </a:pPr>
          </a:p>
        </p:txBody>
      </p:sp>
      <p:sp>
        <p:nvSpPr>
          <p:cNvPr id="108" name="Text 12"/>
          <p:cNvSpPr txBox="1"/>
          <p:nvPr/>
        </p:nvSpPr>
        <p:spPr>
          <a:xfrm>
            <a:off x="7452359" y="3308350"/>
            <a:ext cx="91440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1E2761"/>
                </a:solidFill>
                <a:latin typeface="Cambria"/>
                <a:ea typeface="Cambria"/>
                <a:cs typeface="Cambria"/>
                <a:sym typeface="Cambria"/>
              </a:defRPr>
            </a:lvl1pPr>
          </a:lstStyle>
          <a:p>
            <a:pPr/>
            <a:r>
              <a:t>M : N</a:t>
            </a:r>
          </a:p>
        </p:txBody>
      </p:sp>
      <p:sp>
        <p:nvSpPr>
          <p:cNvPr id="109" name="Text 13"/>
          <p:cNvSpPr txBox="1"/>
          <p:nvPr/>
        </p:nvSpPr>
        <p:spPr>
          <a:xfrm>
            <a:off x="8641079" y="3220020"/>
            <a:ext cx="2834641" cy="5094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lvl1pPr>
          </a:lstStyle>
          <a:p>
            <a:pPr/>
            <a:r>
              <a:t>A book may have several authors; an author may write several books.</a:t>
            </a:r>
          </a:p>
        </p:txBody>
      </p:sp>
      <p:sp>
        <p:nvSpPr>
          <p:cNvPr id="110" name="Shape 14"/>
          <p:cNvSpPr/>
          <p:nvPr/>
        </p:nvSpPr>
        <p:spPr>
          <a:xfrm>
            <a:off x="457200" y="4069079"/>
            <a:ext cx="11247120" cy="914401"/>
          </a:xfrm>
          <a:prstGeom prst="roundRect">
            <a:avLst>
              <a:gd name="adj" fmla="val 800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111" name="Text 15"/>
          <p:cNvSpPr txBox="1"/>
          <p:nvPr/>
        </p:nvSpPr>
        <p:spPr>
          <a:xfrm>
            <a:off x="731519" y="4371034"/>
            <a:ext cx="64922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defRPr>
            </a:lvl1pPr>
          </a:lstStyle>
          <a:p>
            <a:pPr/>
            <a:r>
              <a:t>Book — PUBLISHED BY — Publisher</a:t>
            </a:r>
          </a:p>
        </p:txBody>
      </p:sp>
      <p:sp>
        <p:nvSpPr>
          <p:cNvPr id="112" name="Shape 16"/>
          <p:cNvSpPr/>
          <p:nvPr/>
        </p:nvSpPr>
        <p:spPr>
          <a:xfrm>
            <a:off x="7406640" y="4270247"/>
            <a:ext cx="1005841" cy="512065"/>
          </a:xfrm>
          <a:prstGeom prst="roundRect">
            <a:avLst>
              <a:gd name="adj" fmla="val 17857"/>
            </a:avLst>
          </a:prstGeom>
          <a:solidFill>
            <a:srgbClr val="E8A33D"/>
          </a:solidFill>
          <a:ln w="12700">
            <a:miter lim="400000"/>
          </a:ln>
        </p:spPr>
        <p:txBody>
          <a:bodyPr lIns="45719" rIns="45719"/>
          <a:lstStyle/>
          <a:p>
            <a:pPr>
              <a:defRPr sz="2200">
                <a:solidFill>
                  <a:srgbClr val="000000"/>
                </a:solidFill>
              </a:defRPr>
            </a:pPr>
          </a:p>
        </p:txBody>
      </p:sp>
      <p:sp>
        <p:nvSpPr>
          <p:cNvPr id="113" name="Text 17"/>
          <p:cNvSpPr txBox="1"/>
          <p:nvPr/>
        </p:nvSpPr>
        <p:spPr>
          <a:xfrm>
            <a:off x="7452359" y="4359909"/>
            <a:ext cx="91440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1E2761"/>
                </a:solidFill>
                <a:latin typeface="Cambria"/>
                <a:ea typeface="Cambria"/>
                <a:cs typeface="Cambria"/>
                <a:sym typeface="Cambria"/>
              </a:defRPr>
            </a:lvl1pPr>
          </a:lstStyle>
          <a:p>
            <a:pPr/>
            <a:r>
              <a:t>N : 1</a:t>
            </a:r>
          </a:p>
        </p:txBody>
      </p:sp>
      <p:sp>
        <p:nvSpPr>
          <p:cNvPr id="114" name="Text 18"/>
          <p:cNvSpPr txBox="1"/>
          <p:nvPr/>
        </p:nvSpPr>
        <p:spPr>
          <a:xfrm>
            <a:off x="8641079" y="4385880"/>
            <a:ext cx="283464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lvl1pPr>
          </a:lstStyle>
          <a:p>
            <a:pPr/>
            <a:r>
              <a:t>Many books share one publisher.</a:t>
            </a:r>
          </a:p>
        </p:txBody>
      </p:sp>
      <p:sp>
        <p:nvSpPr>
          <p:cNvPr id="115" name="Shape 19"/>
          <p:cNvSpPr/>
          <p:nvPr/>
        </p:nvSpPr>
        <p:spPr>
          <a:xfrm>
            <a:off x="457200" y="5120640"/>
            <a:ext cx="11247120" cy="914401"/>
          </a:xfrm>
          <a:prstGeom prst="roundRect">
            <a:avLst>
              <a:gd name="adj" fmla="val 800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116" name="Text 20"/>
          <p:cNvSpPr txBox="1"/>
          <p:nvPr/>
        </p:nvSpPr>
        <p:spPr>
          <a:xfrm>
            <a:off x="731519" y="5422595"/>
            <a:ext cx="6492241" cy="3104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defRPr>
            </a:lvl1pPr>
          </a:lstStyle>
          <a:p>
            <a:pPr/>
            <a:r>
              <a:t>Librarian — MANAGES — Loan</a:t>
            </a:r>
          </a:p>
        </p:txBody>
      </p:sp>
      <p:sp>
        <p:nvSpPr>
          <p:cNvPr id="117" name="Shape 21"/>
          <p:cNvSpPr/>
          <p:nvPr/>
        </p:nvSpPr>
        <p:spPr>
          <a:xfrm>
            <a:off x="7406640" y="5321808"/>
            <a:ext cx="1005841" cy="512065"/>
          </a:xfrm>
          <a:prstGeom prst="roundRect">
            <a:avLst>
              <a:gd name="adj" fmla="val 17857"/>
            </a:avLst>
          </a:prstGeom>
          <a:solidFill>
            <a:srgbClr val="E8A33D"/>
          </a:solidFill>
          <a:ln w="12700">
            <a:miter lim="400000"/>
          </a:ln>
        </p:spPr>
        <p:txBody>
          <a:bodyPr lIns="45719" rIns="45719"/>
          <a:lstStyle/>
          <a:p>
            <a:pPr>
              <a:defRPr sz="2200">
                <a:solidFill>
                  <a:srgbClr val="000000"/>
                </a:solidFill>
              </a:defRPr>
            </a:pPr>
          </a:p>
        </p:txBody>
      </p:sp>
      <p:sp>
        <p:nvSpPr>
          <p:cNvPr id="118" name="Text 22"/>
          <p:cNvSpPr txBox="1"/>
          <p:nvPr/>
        </p:nvSpPr>
        <p:spPr>
          <a:xfrm>
            <a:off x="7452359" y="5411470"/>
            <a:ext cx="91440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1E2761"/>
                </a:solidFill>
                <a:latin typeface="Cambria"/>
                <a:ea typeface="Cambria"/>
                <a:cs typeface="Cambria"/>
                <a:sym typeface="Cambria"/>
              </a:defRPr>
            </a:lvl1pPr>
          </a:lstStyle>
          <a:p>
            <a:pPr/>
            <a:r>
              <a:t>1 : N</a:t>
            </a:r>
          </a:p>
        </p:txBody>
      </p:sp>
      <p:sp>
        <p:nvSpPr>
          <p:cNvPr id="119" name="Text 23"/>
          <p:cNvSpPr txBox="1"/>
          <p:nvPr/>
        </p:nvSpPr>
        <p:spPr>
          <a:xfrm>
            <a:off x="8641079" y="5323140"/>
            <a:ext cx="2834641" cy="5094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lvl1pPr>
          </a:lstStyle>
          <a:p>
            <a:pPr/>
            <a:r>
              <a:t>One librarian processes many loan transactions.</a:t>
            </a:r>
          </a:p>
        </p:txBody>
      </p:sp>
      <p:sp>
        <p:nvSpPr>
          <p:cNvPr id="120" name="Text 24"/>
          <p:cNvSpPr txBox="1"/>
          <p:nvPr/>
        </p:nvSpPr>
        <p:spPr>
          <a:xfrm>
            <a:off x="502919" y="653472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lvl1pPr>
          </a:lstStyle>
          <a:p>
            <a:pPr/>
            <a:r>
              <a:t>Topic 1 · ER Diagram — Library System</a:t>
            </a:r>
          </a:p>
        </p:txBody>
      </p:sp>
      <p:sp>
        <p:nvSpPr>
          <p:cNvPr id="121" name="Text 25"/>
          <p:cNvSpPr txBox="1"/>
          <p:nvPr/>
        </p:nvSpPr>
        <p:spPr>
          <a:xfrm>
            <a:off x="11292839" y="6534720"/>
            <a:ext cx="365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400"/>
            </a:lvl1pP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124"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1</a:t>
            </a:r>
          </a:p>
        </p:txBody>
      </p:sp>
      <p:sp>
        <p:nvSpPr>
          <p:cNvPr id="125"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ER DIAGRAM</a:t>
            </a:r>
          </a:p>
        </p:txBody>
      </p:sp>
      <p:sp>
        <p:nvSpPr>
          <p:cNvPr id="126"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Online Library System — ER Diagram</a:t>
            </a:r>
          </a:p>
        </p:txBody>
      </p:sp>
      <p:sp>
        <p:nvSpPr>
          <p:cNvPr id="127" name="Shape 4"/>
          <p:cNvSpPr/>
          <p:nvPr/>
        </p:nvSpPr>
        <p:spPr>
          <a:xfrm>
            <a:off x="548640" y="2103120"/>
            <a:ext cx="17373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128" name="Text 5"/>
          <p:cNvSpPr txBox="1"/>
          <p:nvPr/>
        </p:nvSpPr>
        <p:spPr>
          <a:xfrm>
            <a:off x="594359" y="2310306"/>
            <a:ext cx="16459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AUTHOR</a:t>
            </a:r>
          </a:p>
        </p:txBody>
      </p:sp>
      <p:sp>
        <p:nvSpPr>
          <p:cNvPr id="129" name="Shape 6"/>
          <p:cNvSpPr/>
          <p:nvPr/>
        </p:nvSpPr>
        <p:spPr>
          <a:xfrm>
            <a:off x="548640" y="5120640"/>
            <a:ext cx="17373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130" name="Text 7"/>
          <p:cNvSpPr txBox="1"/>
          <p:nvPr/>
        </p:nvSpPr>
        <p:spPr>
          <a:xfrm>
            <a:off x="594359" y="5327826"/>
            <a:ext cx="1645922"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PUBLISHER</a:t>
            </a:r>
          </a:p>
        </p:txBody>
      </p:sp>
      <p:sp>
        <p:nvSpPr>
          <p:cNvPr id="131" name="Shape 8"/>
          <p:cNvSpPr/>
          <p:nvPr/>
        </p:nvSpPr>
        <p:spPr>
          <a:xfrm>
            <a:off x="5120640" y="2103120"/>
            <a:ext cx="17373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132" name="Text 9"/>
          <p:cNvSpPr txBox="1"/>
          <p:nvPr/>
        </p:nvSpPr>
        <p:spPr>
          <a:xfrm>
            <a:off x="5166360" y="2310306"/>
            <a:ext cx="16459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BOOK</a:t>
            </a:r>
          </a:p>
        </p:txBody>
      </p:sp>
      <p:sp>
        <p:nvSpPr>
          <p:cNvPr id="133" name="Shape 10"/>
          <p:cNvSpPr/>
          <p:nvPr/>
        </p:nvSpPr>
        <p:spPr>
          <a:xfrm>
            <a:off x="5120640" y="5120640"/>
            <a:ext cx="17373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134" name="Text 11"/>
          <p:cNvSpPr txBox="1"/>
          <p:nvPr/>
        </p:nvSpPr>
        <p:spPr>
          <a:xfrm>
            <a:off x="5166360" y="5327826"/>
            <a:ext cx="164592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LIBRARIAN</a:t>
            </a:r>
          </a:p>
        </p:txBody>
      </p:sp>
      <p:sp>
        <p:nvSpPr>
          <p:cNvPr id="135" name="Shape 12"/>
          <p:cNvSpPr/>
          <p:nvPr/>
        </p:nvSpPr>
        <p:spPr>
          <a:xfrm>
            <a:off x="9692640" y="2103120"/>
            <a:ext cx="17373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136" name="Text 13"/>
          <p:cNvSpPr txBox="1"/>
          <p:nvPr/>
        </p:nvSpPr>
        <p:spPr>
          <a:xfrm>
            <a:off x="9738359" y="2310306"/>
            <a:ext cx="16459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MEMBER</a:t>
            </a:r>
          </a:p>
        </p:txBody>
      </p:sp>
      <p:sp>
        <p:nvSpPr>
          <p:cNvPr id="137" name="Shape 14"/>
          <p:cNvSpPr/>
          <p:nvPr/>
        </p:nvSpPr>
        <p:spPr>
          <a:xfrm>
            <a:off x="9646919" y="5074920"/>
            <a:ext cx="1828801" cy="731521"/>
          </a:xfrm>
          <a:prstGeom prst="rect">
            <a:avLst/>
          </a:prstGeom>
          <a:ln w="19050">
            <a:solidFill>
              <a:srgbClr val="1E2761"/>
            </a:solidFill>
          </a:ln>
        </p:spPr>
        <p:txBody>
          <a:bodyPr lIns="45719" rIns="45719"/>
          <a:lstStyle/>
          <a:p>
            <a:pPr>
              <a:defRPr sz="1800">
                <a:solidFill>
                  <a:srgbClr val="000000"/>
                </a:solidFill>
              </a:defRPr>
            </a:pPr>
          </a:p>
        </p:txBody>
      </p:sp>
      <p:sp>
        <p:nvSpPr>
          <p:cNvPr id="138" name="Shape 15"/>
          <p:cNvSpPr/>
          <p:nvPr/>
        </p:nvSpPr>
        <p:spPr>
          <a:xfrm>
            <a:off x="9692640" y="5120640"/>
            <a:ext cx="17373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139" name="Text 16"/>
          <p:cNvSpPr txBox="1"/>
          <p:nvPr/>
        </p:nvSpPr>
        <p:spPr>
          <a:xfrm>
            <a:off x="9738359" y="5327826"/>
            <a:ext cx="164592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LOAN</a:t>
            </a:r>
          </a:p>
        </p:txBody>
      </p:sp>
      <p:sp>
        <p:nvSpPr>
          <p:cNvPr id="140" name="Shape 17"/>
          <p:cNvSpPr/>
          <p:nvPr/>
        </p:nvSpPr>
        <p:spPr>
          <a:xfrm>
            <a:off x="2834639" y="2103120"/>
            <a:ext cx="1371601" cy="640081"/>
          </a:xfrm>
          <a:prstGeom prst="diamond">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141" name="Text 18"/>
          <p:cNvSpPr txBox="1"/>
          <p:nvPr/>
        </p:nvSpPr>
        <p:spPr>
          <a:xfrm>
            <a:off x="2880360" y="2325151"/>
            <a:ext cx="128016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1E2761"/>
                </a:solidFill>
              </a:defRPr>
            </a:lvl1pPr>
          </a:lstStyle>
          <a:p>
            <a:pPr/>
            <a:r>
              <a:t>WRITTEN BY</a:t>
            </a:r>
          </a:p>
        </p:txBody>
      </p:sp>
      <p:sp>
        <p:nvSpPr>
          <p:cNvPr id="142" name="Shape 19"/>
          <p:cNvSpPr/>
          <p:nvPr/>
        </p:nvSpPr>
        <p:spPr>
          <a:xfrm>
            <a:off x="2834639" y="5120640"/>
            <a:ext cx="1371601" cy="640081"/>
          </a:xfrm>
          <a:prstGeom prst="diamond">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143" name="Text 20"/>
          <p:cNvSpPr txBox="1"/>
          <p:nvPr/>
        </p:nvSpPr>
        <p:spPr>
          <a:xfrm>
            <a:off x="2880360" y="5342672"/>
            <a:ext cx="12801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1E2761"/>
                </a:solidFill>
              </a:defRPr>
            </a:lvl1pPr>
          </a:lstStyle>
          <a:p>
            <a:pPr/>
            <a:r>
              <a:t>PUBLISHED BY</a:t>
            </a:r>
          </a:p>
        </p:txBody>
      </p:sp>
      <p:sp>
        <p:nvSpPr>
          <p:cNvPr id="144" name="Shape 21"/>
          <p:cNvSpPr/>
          <p:nvPr/>
        </p:nvSpPr>
        <p:spPr>
          <a:xfrm>
            <a:off x="7406640" y="2103120"/>
            <a:ext cx="1371601" cy="640081"/>
          </a:xfrm>
          <a:prstGeom prst="diamond">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145" name="Text 22"/>
          <p:cNvSpPr txBox="1"/>
          <p:nvPr/>
        </p:nvSpPr>
        <p:spPr>
          <a:xfrm>
            <a:off x="7452359" y="2325151"/>
            <a:ext cx="1280161" cy="1960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1E2761"/>
                </a:solidFill>
              </a:defRPr>
            </a:lvl1pPr>
          </a:lstStyle>
          <a:p>
            <a:pPr/>
            <a:r>
              <a:t>BORROWS</a:t>
            </a:r>
          </a:p>
        </p:txBody>
      </p:sp>
      <p:sp>
        <p:nvSpPr>
          <p:cNvPr id="146" name="Shape 23"/>
          <p:cNvSpPr/>
          <p:nvPr/>
        </p:nvSpPr>
        <p:spPr>
          <a:xfrm>
            <a:off x="7406640" y="5120640"/>
            <a:ext cx="1371601" cy="640081"/>
          </a:xfrm>
          <a:prstGeom prst="diamond">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147" name="Text 24"/>
          <p:cNvSpPr txBox="1"/>
          <p:nvPr/>
        </p:nvSpPr>
        <p:spPr>
          <a:xfrm>
            <a:off x="7452359" y="5342672"/>
            <a:ext cx="128016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1E2761"/>
                </a:solidFill>
              </a:defRPr>
            </a:lvl1pPr>
          </a:lstStyle>
          <a:p>
            <a:pPr/>
            <a:r>
              <a:t>MANAGES</a:t>
            </a:r>
          </a:p>
        </p:txBody>
      </p:sp>
      <p:sp>
        <p:nvSpPr>
          <p:cNvPr id="148" name="Shape 25"/>
          <p:cNvSpPr/>
          <p:nvPr/>
        </p:nvSpPr>
        <p:spPr>
          <a:xfrm>
            <a:off x="2286000" y="2423160"/>
            <a:ext cx="548641" cy="1"/>
          </a:xfrm>
          <a:prstGeom prst="line">
            <a:avLst/>
          </a:prstGeom>
          <a:ln w="15875">
            <a:solidFill>
              <a:srgbClr val="5A6B85"/>
            </a:solidFill>
          </a:ln>
        </p:spPr>
        <p:txBody>
          <a:bodyPr lIns="45719" rIns="45719"/>
          <a:lstStyle/>
          <a:p>
            <a:pPr>
              <a:defRPr sz="1800">
                <a:solidFill>
                  <a:srgbClr val="000000"/>
                </a:solidFill>
              </a:defRPr>
            </a:pPr>
          </a:p>
        </p:txBody>
      </p:sp>
      <p:sp>
        <p:nvSpPr>
          <p:cNvPr id="149" name="Shape 26"/>
          <p:cNvSpPr/>
          <p:nvPr/>
        </p:nvSpPr>
        <p:spPr>
          <a:xfrm>
            <a:off x="4206240" y="2423160"/>
            <a:ext cx="914401" cy="1"/>
          </a:xfrm>
          <a:prstGeom prst="line">
            <a:avLst/>
          </a:prstGeom>
          <a:ln w="15875">
            <a:solidFill>
              <a:srgbClr val="5A6B85"/>
            </a:solidFill>
          </a:ln>
        </p:spPr>
        <p:txBody>
          <a:bodyPr lIns="45719" rIns="45719"/>
          <a:lstStyle/>
          <a:p>
            <a:pPr>
              <a:defRPr sz="1800">
                <a:solidFill>
                  <a:srgbClr val="000000"/>
                </a:solidFill>
              </a:defRPr>
            </a:pPr>
          </a:p>
        </p:txBody>
      </p:sp>
      <p:sp>
        <p:nvSpPr>
          <p:cNvPr id="150" name="Shape 27"/>
          <p:cNvSpPr/>
          <p:nvPr/>
        </p:nvSpPr>
        <p:spPr>
          <a:xfrm>
            <a:off x="2286000" y="5440679"/>
            <a:ext cx="548641" cy="1"/>
          </a:xfrm>
          <a:prstGeom prst="line">
            <a:avLst/>
          </a:prstGeom>
          <a:ln w="15875">
            <a:solidFill>
              <a:srgbClr val="5A6B85"/>
            </a:solidFill>
          </a:ln>
        </p:spPr>
        <p:txBody>
          <a:bodyPr lIns="45719" rIns="45719"/>
          <a:lstStyle/>
          <a:p>
            <a:pPr>
              <a:defRPr sz="1800">
                <a:solidFill>
                  <a:srgbClr val="000000"/>
                </a:solidFill>
              </a:defRPr>
            </a:pPr>
          </a:p>
        </p:txBody>
      </p:sp>
      <p:sp>
        <p:nvSpPr>
          <p:cNvPr id="151" name="Shape 28"/>
          <p:cNvSpPr/>
          <p:nvPr/>
        </p:nvSpPr>
        <p:spPr>
          <a:xfrm>
            <a:off x="4206240" y="5440679"/>
            <a:ext cx="914401" cy="1"/>
          </a:xfrm>
          <a:prstGeom prst="line">
            <a:avLst/>
          </a:prstGeom>
          <a:ln w="15875">
            <a:solidFill>
              <a:srgbClr val="5A6B85"/>
            </a:solidFill>
          </a:ln>
        </p:spPr>
        <p:txBody>
          <a:bodyPr lIns="45719" rIns="45719"/>
          <a:lstStyle/>
          <a:p>
            <a:pPr>
              <a:defRPr sz="1800">
                <a:solidFill>
                  <a:srgbClr val="000000"/>
                </a:solidFill>
              </a:defRPr>
            </a:pPr>
          </a:p>
        </p:txBody>
      </p:sp>
      <p:sp>
        <p:nvSpPr>
          <p:cNvPr id="152" name="Shape 29"/>
          <p:cNvSpPr/>
          <p:nvPr/>
        </p:nvSpPr>
        <p:spPr>
          <a:xfrm>
            <a:off x="6858000" y="2423160"/>
            <a:ext cx="548641" cy="1"/>
          </a:xfrm>
          <a:prstGeom prst="line">
            <a:avLst/>
          </a:prstGeom>
          <a:ln w="15875">
            <a:solidFill>
              <a:srgbClr val="5A6B85"/>
            </a:solidFill>
          </a:ln>
        </p:spPr>
        <p:txBody>
          <a:bodyPr lIns="45719" rIns="45719"/>
          <a:lstStyle/>
          <a:p>
            <a:pPr>
              <a:defRPr sz="1800">
                <a:solidFill>
                  <a:srgbClr val="000000"/>
                </a:solidFill>
              </a:defRPr>
            </a:pPr>
          </a:p>
        </p:txBody>
      </p:sp>
      <p:sp>
        <p:nvSpPr>
          <p:cNvPr id="153" name="Shape 30"/>
          <p:cNvSpPr/>
          <p:nvPr/>
        </p:nvSpPr>
        <p:spPr>
          <a:xfrm>
            <a:off x="8778240" y="2423160"/>
            <a:ext cx="914401" cy="1"/>
          </a:xfrm>
          <a:prstGeom prst="line">
            <a:avLst/>
          </a:prstGeom>
          <a:ln w="15875">
            <a:solidFill>
              <a:srgbClr val="5A6B85"/>
            </a:solidFill>
          </a:ln>
        </p:spPr>
        <p:txBody>
          <a:bodyPr lIns="45719" rIns="45719"/>
          <a:lstStyle/>
          <a:p>
            <a:pPr>
              <a:defRPr sz="1800">
                <a:solidFill>
                  <a:srgbClr val="000000"/>
                </a:solidFill>
              </a:defRPr>
            </a:pPr>
          </a:p>
        </p:txBody>
      </p:sp>
      <p:sp>
        <p:nvSpPr>
          <p:cNvPr id="154" name="Shape 31"/>
          <p:cNvSpPr/>
          <p:nvPr/>
        </p:nvSpPr>
        <p:spPr>
          <a:xfrm>
            <a:off x="6858000" y="5440679"/>
            <a:ext cx="548641" cy="1"/>
          </a:xfrm>
          <a:prstGeom prst="line">
            <a:avLst/>
          </a:prstGeom>
          <a:ln w="15875">
            <a:solidFill>
              <a:srgbClr val="5A6B85"/>
            </a:solidFill>
          </a:ln>
        </p:spPr>
        <p:txBody>
          <a:bodyPr lIns="45719" rIns="45719"/>
          <a:lstStyle/>
          <a:p>
            <a:pPr>
              <a:defRPr sz="1800">
                <a:solidFill>
                  <a:srgbClr val="000000"/>
                </a:solidFill>
              </a:defRPr>
            </a:pPr>
          </a:p>
        </p:txBody>
      </p:sp>
      <p:sp>
        <p:nvSpPr>
          <p:cNvPr id="155" name="Shape 32"/>
          <p:cNvSpPr/>
          <p:nvPr/>
        </p:nvSpPr>
        <p:spPr>
          <a:xfrm>
            <a:off x="8778240" y="5440679"/>
            <a:ext cx="914401" cy="1"/>
          </a:xfrm>
          <a:prstGeom prst="line">
            <a:avLst/>
          </a:prstGeom>
          <a:ln w="15875">
            <a:solidFill>
              <a:srgbClr val="5A6B85"/>
            </a:solidFill>
          </a:ln>
        </p:spPr>
        <p:txBody>
          <a:bodyPr lIns="45719" rIns="45719"/>
          <a:lstStyle/>
          <a:p>
            <a:pPr>
              <a:defRPr sz="1800">
                <a:solidFill>
                  <a:srgbClr val="000000"/>
                </a:solidFill>
              </a:defRPr>
            </a:pPr>
          </a:p>
        </p:txBody>
      </p:sp>
      <p:sp>
        <p:nvSpPr>
          <p:cNvPr id="156" name="Shape 33"/>
          <p:cNvSpPr/>
          <p:nvPr/>
        </p:nvSpPr>
        <p:spPr>
          <a:xfrm flipH="1">
            <a:off x="5989319" y="2743200"/>
            <a:ext cx="1" cy="2377441"/>
          </a:xfrm>
          <a:prstGeom prst="line">
            <a:avLst/>
          </a:prstGeom>
          <a:ln w="15875">
            <a:solidFill>
              <a:srgbClr val="5A6B85"/>
            </a:solidFill>
          </a:ln>
        </p:spPr>
        <p:txBody>
          <a:bodyPr lIns="45719" rIns="45719"/>
          <a:lstStyle/>
          <a:p>
            <a:pPr>
              <a:defRPr sz="1800">
                <a:solidFill>
                  <a:srgbClr val="000000"/>
                </a:solidFill>
              </a:defRPr>
            </a:pPr>
          </a:p>
        </p:txBody>
      </p:sp>
      <p:sp>
        <p:nvSpPr>
          <p:cNvPr id="157" name="Shape 34"/>
          <p:cNvSpPr/>
          <p:nvPr/>
        </p:nvSpPr>
        <p:spPr>
          <a:xfrm flipV="1">
            <a:off x="5989320" y="2743200"/>
            <a:ext cx="1417321" cy="2377441"/>
          </a:xfrm>
          <a:prstGeom prst="line">
            <a:avLst/>
          </a:prstGeom>
          <a:ln w="15875">
            <a:solidFill>
              <a:srgbClr val="5A6B85"/>
            </a:solidFill>
          </a:ln>
        </p:spPr>
        <p:txBody>
          <a:bodyPr lIns="45719" rIns="45719"/>
          <a:lstStyle/>
          <a:p>
            <a:pPr>
              <a:defRPr sz="1800">
                <a:solidFill>
                  <a:srgbClr val="000000"/>
                </a:solidFill>
              </a:defRPr>
            </a:pPr>
          </a:p>
        </p:txBody>
      </p:sp>
      <p:sp>
        <p:nvSpPr>
          <p:cNvPr id="158" name="Text 35"/>
          <p:cNvSpPr txBox="1"/>
          <p:nvPr/>
        </p:nvSpPr>
        <p:spPr>
          <a:xfrm>
            <a:off x="2377440" y="2183043"/>
            <a:ext cx="4572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M</a:t>
            </a:r>
          </a:p>
        </p:txBody>
      </p:sp>
      <p:sp>
        <p:nvSpPr>
          <p:cNvPr id="159" name="Text 36"/>
          <p:cNvSpPr txBox="1"/>
          <p:nvPr/>
        </p:nvSpPr>
        <p:spPr>
          <a:xfrm>
            <a:off x="4206240" y="2183043"/>
            <a:ext cx="4572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N</a:t>
            </a:r>
          </a:p>
        </p:txBody>
      </p:sp>
      <p:sp>
        <p:nvSpPr>
          <p:cNvPr id="160" name="Text 37"/>
          <p:cNvSpPr txBox="1"/>
          <p:nvPr/>
        </p:nvSpPr>
        <p:spPr>
          <a:xfrm>
            <a:off x="2377440" y="5200562"/>
            <a:ext cx="45720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N</a:t>
            </a:r>
          </a:p>
        </p:txBody>
      </p:sp>
      <p:sp>
        <p:nvSpPr>
          <p:cNvPr id="161" name="Text 38"/>
          <p:cNvSpPr txBox="1"/>
          <p:nvPr/>
        </p:nvSpPr>
        <p:spPr>
          <a:xfrm>
            <a:off x="4206240" y="5200562"/>
            <a:ext cx="45720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1</a:t>
            </a:r>
          </a:p>
        </p:txBody>
      </p:sp>
      <p:sp>
        <p:nvSpPr>
          <p:cNvPr id="162" name="Text 39"/>
          <p:cNvSpPr txBox="1"/>
          <p:nvPr/>
        </p:nvSpPr>
        <p:spPr>
          <a:xfrm>
            <a:off x="6949439" y="2183043"/>
            <a:ext cx="4572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N</a:t>
            </a:r>
          </a:p>
        </p:txBody>
      </p:sp>
      <p:sp>
        <p:nvSpPr>
          <p:cNvPr id="163" name="Text 40"/>
          <p:cNvSpPr txBox="1"/>
          <p:nvPr/>
        </p:nvSpPr>
        <p:spPr>
          <a:xfrm>
            <a:off x="8778239" y="2183043"/>
            <a:ext cx="45720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M</a:t>
            </a:r>
          </a:p>
        </p:txBody>
      </p:sp>
      <p:sp>
        <p:nvSpPr>
          <p:cNvPr id="164" name="Text 41"/>
          <p:cNvSpPr txBox="1"/>
          <p:nvPr/>
        </p:nvSpPr>
        <p:spPr>
          <a:xfrm>
            <a:off x="6949439" y="5200562"/>
            <a:ext cx="45720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1</a:t>
            </a:r>
          </a:p>
        </p:txBody>
      </p:sp>
      <p:sp>
        <p:nvSpPr>
          <p:cNvPr id="165" name="Text 42"/>
          <p:cNvSpPr txBox="1"/>
          <p:nvPr/>
        </p:nvSpPr>
        <p:spPr>
          <a:xfrm>
            <a:off x="8778239" y="5200562"/>
            <a:ext cx="457201" cy="20591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lvl1pPr>
          </a:lstStyle>
          <a:p>
            <a:pPr/>
            <a:r>
              <a:t>N</a:t>
            </a:r>
          </a:p>
        </p:txBody>
      </p:sp>
      <p:sp>
        <p:nvSpPr>
          <p:cNvPr id="166" name="Text 46"/>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169"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1</a:t>
            </a:r>
          </a:p>
        </p:txBody>
      </p:sp>
      <p:sp>
        <p:nvSpPr>
          <p:cNvPr id="170" name="Text 2"/>
          <p:cNvSpPr txBox="1"/>
          <p:nvPr/>
        </p:nvSpPr>
        <p:spPr>
          <a:xfrm>
            <a:off x="1143000" y="5084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COMPONENT WALKTHROUGH</a:t>
            </a:r>
          </a:p>
        </p:txBody>
      </p:sp>
      <p:sp>
        <p:nvSpPr>
          <p:cNvPr id="171"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Explaining Each Component</a:t>
            </a:r>
          </a:p>
        </p:txBody>
      </p:sp>
      <p:sp>
        <p:nvSpPr>
          <p:cNvPr id="172" name="Shape 4"/>
          <p:cNvSpPr/>
          <p:nvPr/>
        </p:nvSpPr>
        <p:spPr>
          <a:xfrm>
            <a:off x="548640" y="1920239"/>
            <a:ext cx="502921" cy="502921"/>
          </a:xfrm>
          <a:prstGeom prst="ellipse">
            <a:avLst/>
          </a:prstGeom>
          <a:solidFill>
            <a:srgbClr val="1E2761"/>
          </a:solidFill>
          <a:ln w="12700">
            <a:miter lim="400000"/>
          </a:ln>
        </p:spPr>
        <p:txBody>
          <a:bodyPr lIns="45719" rIns="45719"/>
          <a:lstStyle/>
          <a:p>
            <a:pPr>
              <a:defRPr sz="2200">
                <a:solidFill>
                  <a:srgbClr val="000000"/>
                </a:solidFill>
              </a:defRPr>
            </a:pPr>
          </a:p>
        </p:txBody>
      </p:sp>
      <p:sp>
        <p:nvSpPr>
          <p:cNvPr id="173" name="Text 5"/>
          <p:cNvSpPr txBox="1"/>
          <p:nvPr/>
        </p:nvSpPr>
        <p:spPr>
          <a:xfrm>
            <a:off x="594359" y="200532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E</a:t>
            </a:r>
          </a:p>
        </p:txBody>
      </p:sp>
      <p:sp>
        <p:nvSpPr>
          <p:cNvPr id="174" name="Text 6"/>
          <p:cNvSpPr txBox="1"/>
          <p:nvPr/>
        </p:nvSpPr>
        <p:spPr>
          <a:xfrm>
            <a:off x="1280159" y="1969770"/>
            <a:ext cx="2103122"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Entity</a:t>
            </a:r>
          </a:p>
        </p:txBody>
      </p:sp>
      <p:sp>
        <p:nvSpPr>
          <p:cNvPr id="175" name="Text 7"/>
          <p:cNvSpPr txBox="1"/>
          <p:nvPr/>
        </p:nvSpPr>
        <p:spPr>
          <a:xfrm>
            <a:off x="3611879" y="1917263"/>
            <a:ext cx="8046721" cy="554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1E2761"/>
                </a:solidFill>
              </a:defRPr>
            </a:lvl1pPr>
          </a:lstStyle>
          <a:p>
            <a:pPr/>
            <a:r>
              <a:t>A distinguishable real-world object stored in the database, drawn as a rectangle — e.g. Book, Member.</a:t>
            </a:r>
          </a:p>
        </p:txBody>
      </p:sp>
      <p:sp>
        <p:nvSpPr>
          <p:cNvPr id="176" name="Shape 8"/>
          <p:cNvSpPr/>
          <p:nvPr/>
        </p:nvSpPr>
        <p:spPr>
          <a:xfrm>
            <a:off x="548640" y="2816351"/>
            <a:ext cx="502921" cy="502921"/>
          </a:xfrm>
          <a:prstGeom prst="ellipse">
            <a:avLst/>
          </a:prstGeom>
          <a:solidFill>
            <a:srgbClr val="1E2761"/>
          </a:solidFill>
          <a:ln w="12700">
            <a:miter lim="400000"/>
          </a:ln>
        </p:spPr>
        <p:txBody>
          <a:bodyPr lIns="45719" rIns="45719"/>
          <a:lstStyle/>
          <a:p>
            <a:pPr>
              <a:defRPr sz="2200">
                <a:solidFill>
                  <a:srgbClr val="000000"/>
                </a:solidFill>
              </a:defRPr>
            </a:pPr>
          </a:p>
        </p:txBody>
      </p:sp>
      <p:sp>
        <p:nvSpPr>
          <p:cNvPr id="177" name="Text 9"/>
          <p:cNvSpPr txBox="1"/>
          <p:nvPr/>
        </p:nvSpPr>
        <p:spPr>
          <a:xfrm>
            <a:off x="594359" y="2901441"/>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A</a:t>
            </a:r>
          </a:p>
        </p:txBody>
      </p:sp>
      <p:sp>
        <p:nvSpPr>
          <p:cNvPr id="178" name="Text 10"/>
          <p:cNvSpPr txBox="1"/>
          <p:nvPr/>
        </p:nvSpPr>
        <p:spPr>
          <a:xfrm>
            <a:off x="1280159" y="2865882"/>
            <a:ext cx="2103122"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Attribute</a:t>
            </a:r>
          </a:p>
        </p:txBody>
      </p:sp>
      <p:sp>
        <p:nvSpPr>
          <p:cNvPr id="179" name="Text 11"/>
          <p:cNvSpPr txBox="1"/>
          <p:nvPr/>
        </p:nvSpPr>
        <p:spPr>
          <a:xfrm>
            <a:off x="3611879" y="2940375"/>
            <a:ext cx="8046721"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1E2761"/>
                </a:solidFill>
              </a:defRPr>
            </a:lvl1pPr>
          </a:lstStyle>
          <a:p>
            <a:pPr/>
            <a:r>
              <a:t>A property describing an entity — e.g. Title, Email. Underlined attributes mark the primary key.</a:t>
            </a:r>
          </a:p>
        </p:txBody>
      </p:sp>
      <p:sp>
        <p:nvSpPr>
          <p:cNvPr id="180" name="Shape 12"/>
          <p:cNvSpPr/>
          <p:nvPr/>
        </p:nvSpPr>
        <p:spPr>
          <a:xfrm>
            <a:off x="548640" y="3712464"/>
            <a:ext cx="502921" cy="502921"/>
          </a:xfrm>
          <a:prstGeom prst="ellipse">
            <a:avLst/>
          </a:prstGeom>
          <a:solidFill>
            <a:srgbClr val="1E2761"/>
          </a:solidFill>
          <a:ln w="12700">
            <a:miter lim="400000"/>
          </a:ln>
        </p:spPr>
        <p:txBody>
          <a:bodyPr lIns="45719" rIns="45719"/>
          <a:lstStyle/>
          <a:p>
            <a:pPr>
              <a:defRPr sz="2200">
                <a:solidFill>
                  <a:srgbClr val="000000"/>
                </a:solidFill>
              </a:defRPr>
            </a:pPr>
          </a:p>
        </p:txBody>
      </p:sp>
      <p:sp>
        <p:nvSpPr>
          <p:cNvPr id="181" name="Text 13"/>
          <p:cNvSpPr txBox="1"/>
          <p:nvPr/>
        </p:nvSpPr>
        <p:spPr>
          <a:xfrm>
            <a:off x="594359" y="3797553"/>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R</a:t>
            </a:r>
          </a:p>
        </p:txBody>
      </p:sp>
      <p:sp>
        <p:nvSpPr>
          <p:cNvPr id="182" name="Text 14"/>
          <p:cNvSpPr txBox="1"/>
          <p:nvPr/>
        </p:nvSpPr>
        <p:spPr>
          <a:xfrm>
            <a:off x="1280159" y="3761994"/>
            <a:ext cx="2103122"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Relationship</a:t>
            </a:r>
          </a:p>
        </p:txBody>
      </p:sp>
      <p:sp>
        <p:nvSpPr>
          <p:cNvPr id="183" name="Text 15"/>
          <p:cNvSpPr txBox="1"/>
          <p:nvPr/>
        </p:nvSpPr>
        <p:spPr>
          <a:xfrm>
            <a:off x="3611879" y="3836487"/>
            <a:ext cx="8046721"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1E2761"/>
                </a:solidFill>
              </a:defRPr>
            </a:lvl1pPr>
          </a:lstStyle>
          <a:p>
            <a:pPr/>
            <a:r>
              <a:t>An association between two or more entities, drawn as a diamond — e.g. BORROWS.</a:t>
            </a:r>
          </a:p>
        </p:txBody>
      </p:sp>
      <p:sp>
        <p:nvSpPr>
          <p:cNvPr id="184" name="Shape 16"/>
          <p:cNvSpPr/>
          <p:nvPr/>
        </p:nvSpPr>
        <p:spPr>
          <a:xfrm>
            <a:off x="548640" y="4608576"/>
            <a:ext cx="502921" cy="502921"/>
          </a:xfrm>
          <a:prstGeom prst="ellipse">
            <a:avLst/>
          </a:prstGeom>
          <a:solidFill>
            <a:srgbClr val="1E2761"/>
          </a:solidFill>
          <a:ln w="12700">
            <a:miter lim="400000"/>
          </a:ln>
        </p:spPr>
        <p:txBody>
          <a:bodyPr lIns="45719" rIns="45719"/>
          <a:lstStyle/>
          <a:p>
            <a:pPr>
              <a:defRPr sz="2200">
                <a:solidFill>
                  <a:srgbClr val="000000"/>
                </a:solidFill>
              </a:defRPr>
            </a:pPr>
          </a:p>
        </p:txBody>
      </p:sp>
      <p:sp>
        <p:nvSpPr>
          <p:cNvPr id="185" name="Text 17"/>
          <p:cNvSpPr txBox="1"/>
          <p:nvPr/>
        </p:nvSpPr>
        <p:spPr>
          <a:xfrm>
            <a:off x="594359" y="4693665"/>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C</a:t>
            </a:r>
          </a:p>
        </p:txBody>
      </p:sp>
      <p:sp>
        <p:nvSpPr>
          <p:cNvPr id="186" name="Text 18"/>
          <p:cNvSpPr txBox="1"/>
          <p:nvPr/>
        </p:nvSpPr>
        <p:spPr>
          <a:xfrm>
            <a:off x="1280159" y="4658106"/>
            <a:ext cx="2103122"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Cardinality</a:t>
            </a:r>
          </a:p>
        </p:txBody>
      </p:sp>
      <p:sp>
        <p:nvSpPr>
          <p:cNvPr id="187" name="Text 19"/>
          <p:cNvSpPr txBox="1"/>
          <p:nvPr/>
        </p:nvSpPr>
        <p:spPr>
          <a:xfrm>
            <a:off x="3611879" y="4732599"/>
            <a:ext cx="8046721" cy="300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1E2761"/>
                </a:solidFill>
              </a:defRPr>
            </a:lvl1pPr>
          </a:lstStyle>
          <a:p>
            <a:pPr/>
            <a:r>
              <a:t>States how many instances of one entity relate to another: 1:1, 1:N, or M:N.</a:t>
            </a:r>
          </a:p>
        </p:txBody>
      </p:sp>
      <p:sp>
        <p:nvSpPr>
          <p:cNvPr id="188" name="Shape 20"/>
          <p:cNvSpPr/>
          <p:nvPr/>
        </p:nvSpPr>
        <p:spPr>
          <a:xfrm>
            <a:off x="548640" y="5504688"/>
            <a:ext cx="502921" cy="502921"/>
          </a:xfrm>
          <a:prstGeom prst="ellipse">
            <a:avLst/>
          </a:prstGeom>
          <a:solidFill>
            <a:srgbClr val="1E2761"/>
          </a:solidFill>
          <a:ln w="12700">
            <a:miter lim="400000"/>
          </a:ln>
        </p:spPr>
        <p:txBody>
          <a:bodyPr lIns="45719" rIns="45719"/>
          <a:lstStyle/>
          <a:p>
            <a:pPr>
              <a:defRPr sz="2200">
                <a:solidFill>
                  <a:srgbClr val="000000"/>
                </a:solidFill>
              </a:defRPr>
            </a:pPr>
          </a:p>
        </p:txBody>
      </p:sp>
      <p:sp>
        <p:nvSpPr>
          <p:cNvPr id="189" name="Text 21"/>
          <p:cNvSpPr txBox="1"/>
          <p:nvPr/>
        </p:nvSpPr>
        <p:spPr>
          <a:xfrm>
            <a:off x="594359" y="5589777"/>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W</a:t>
            </a:r>
          </a:p>
        </p:txBody>
      </p:sp>
      <p:sp>
        <p:nvSpPr>
          <p:cNvPr id="190" name="Text 22"/>
          <p:cNvSpPr txBox="1"/>
          <p:nvPr/>
        </p:nvSpPr>
        <p:spPr>
          <a:xfrm>
            <a:off x="1280159" y="5554218"/>
            <a:ext cx="2103122"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Weak Entity</a:t>
            </a:r>
          </a:p>
        </p:txBody>
      </p:sp>
      <p:sp>
        <p:nvSpPr>
          <p:cNvPr id="191" name="Text 23"/>
          <p:cNvSpPr txBox="1"/>
          <p:nvPr/>
        </p:nvSpPr>
        <p:spPr>
          <a:xfrm>
            <a:off x="3611879" y="5501711"/>
            <a:ext cx="8046721" cy="554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a:solidFill>
                  <a:srgbClr val="1E2761"/>
                </a:solidFill>
              </a:defRPr>
            </a:lvl1pPr>
          </a:lstStyle>
          <a:p>
            <a:pPr/>
            <a:r>
              <a:t>An entity with no primary key of its own; it depends on an owner entity (double-bordered rectangle).</a:t>
            </a:r>
          </a:p>
        </p:txBody>
      </p:sp>
      <p:sp>
        <p:nvSpPr>
          <p:cNvPr id="192" name="Text 24"/>
          <p:cNvSpPr txBox="1"/>
          <p:nvPr/>
        </p:nvSpPr>
        <p:spPr>
          <a:xfrm>
            <a:off x="502919" y="653472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lvl1pPr>
          </a:lstStyle>
          <a:p>
            <a:pPr/>
            <a:r>
              <a:t>Topic 1 · ER Diagram — Library System</a:t>
            </a:r>
          </a:p>
        </p:txBody>
      </p:sp>
      <p:sp>
        <p:nvSpPr>
          <p:cNvPr id="193" name="Text 25"/>
          <p:cNvSpPr txBox="1"/>
          <p:nvPr/>
        </p:nvSpPr>
        <p:spPr>
          <a:xfrm>
            <a:off x="11292839" y="6534720"/>
            <a:ext cx="365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400"/>
            </a:lvl1pP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196"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2</a:t>
            </a:r>
          </a:p>
        </p:txBody>
      </p:sp>
      <p:sp>
        <p:nvSpPr>
          <p:cNvPr id="197"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TOPIC 2 OF 5</a:t>
            </a:r>
          </a:p>
        </p:txBody>
      </p:sp>
      <p:sp>
        <p:nvSpPr>
          <p:cNvPr id="198" name="Text 3"/>
          <p:cNvSpPr txBox="1"/>
          <p:nvPr/>
        </p:nvSpPr>
        <p:spPr>
          <a:xfrm>
            <a:off x="3360419" y="1440180"/>
            <a:ext cx="111556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EER Model: University Case Study</a:t>
            </a:r>
          </a:p>
        </p:txBody>
      </p:sp>
      <p:sp>
        <p:nvSpPr>
          <p:cNvPr id="199" name="Text 4"/>
          <p:cNvSpPr txBox="1"/>
          <p:nvPr/>
        </p:nvSpPr>
        <p:spPr>
          <a:xfrm>
            <a:off x="2214165" y="2708431"/>
            <a:ext cx="8662046" cy="144113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5000"/>
              </a:lnSpc>
              <a:defRPr sz="2000">
                <a:solidFill>
                  <a:srgbClr val="1E2761"/>
                </a:solidFill>
              </a:defRPr>
            </a:lvl1pPr>
          </a:lstStyle>
          <a:p>
            <a:pPr/>
            <a:r>
              <a:t>The Enhanced ER (EER) model extends basic ER modeling with generalization, specialization, and aggregation — tools for representing hierarchies and shared structure among entity types. A university naturally has this shape: many kinds of people share common attributes but also have their own specialized roles.</a:t>
            </a:r>
          </a:p>
        </p:txBody>
      </p:sp>
      <p:sp>
        <p:nvSpPr>
          <p:cNvPr id="200" name="Text 22"/>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2 · EER Model — University</a:t>
            </a:r>
          </a:p>
        </p:txBody>
      </p:sp>
      <p:sp>
        <p:nvSpPr>
          <p:cNvPr id="201" name="Text 23"/>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204"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2</a:t>
            </a:r>
          </a:p>
        </p:txBody>
      </p:sp>
      <p:sp>
        <p:nvSpPr>
          <p:cNvPr id="205"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GENERALIZATION vs SPECIALIZATION</a:t>
            </a:r>
          </a:p>
        </p:txBody>
      </p:sp>
      <p:sp>
        <p:nvSpPr>
          <p:cNvPr id="206"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Two Directions, One Hierarchy</a:t>
            </a:r>
          </a:p>
        </p:txBody>
      </p:sp>
      <p:sp>
        <p:nvSpPr>
          <p:cNvPr id="207" name="Shape 4"/>
          <p:cNvSpPr/>
          <p:nvPr/>
        </p:nvSpPr>
        <p:spPr>
          <a:xfrm>
            <a:off x="457200" y="1965960"/>
            <a:ext cx="5394960" cy="3931921"/>
          </a:xfrm>
          <a:prstGeom prst="roundRect">
            <a:avLst>
              <a:gd name="adj" fmla="val 186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100">
                <a:solidFill>
                  <a:srgbClr val="000000"/>
                </a:solidFill>
              </a:defRPr>
            </a:pPr>
          </a:p>
        </p:txBody>
      </p:sp>
      <p:sp>
        <p:nvSpPr>
          <p:cNvPr id="208" name="Text 5"/>
          <p:cNvSpPr txBox="1"/>
          <p:nvPr/>
        </p:nvSpPr>
        <p:spPr>
          <a:xfrm>
            <a:off x="777239" y="2221230"/>
            <a:ext cx="4754881" cy="3581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Generalization  (Bottom-Up)</a:t>
            </a:r>
          </a:p>
        </p:txBody>
      </p:sp>
      <p:sp>
        <p:nvSpPr>
          <p:cNvPr id="209" name="Text 6"/>
          <p:cNvSpPr txBox="1"/>
          <p:nvPr/>
        </p:nvSpPr>
        <p:spPr>
          <a:xfrm>
            <a:off x="777239" y="2697479"/>
            <a:ext cx="4754881" cy="14463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1000"/>
              </a:spcBef>
              <a:buSzPct val="100000"/>
              <a:buChar char="●"/>
              <a:defRPr sz="1500">
                <a:solidFill>
                  <a:srgbClr val="1E2761"/>
                </a:solidFill>
              </a:defRPr>
            </a:pPr>
            <a:r>
              <a:t>Starts from specific entity types and combines shared attributes into a general superclass.</a:t>
            </a:r>
          </a:p>
          <a:p>
            <a:pPr marL="342900" indent="-342900">
              <a:spcBef>
                <a:spcPts val="1000"/>
              </a:spcBef>
              <a:buSzPct val="100000"/>
              <a:buChar char="●"/>
              <a:defRPr sz="1500">
                <a:solidFill>
                  <a:srgbClr val="1E2761"/>
                </a:solidFill>
              </a:defRPr>
            </a:pPr>
            <a:r>
              <a:t>Example: Student and Faculty both have Name and ID — merge into a Person superclass.</a:t>
            </a:r>
          </a:p>
          <a:p>
            <a:pPr marL="342900" indent="-342900">
              <a:spcBef>
                <a:spcPts val="1000"/>
              </a:spcBef>
              <a:buSzPct val="100000"/>
              <a:buChar char="●"/>
              <a:defRPr sz="1500">
                <a:solidFill>
                  <a:srgbClr val="1E2761"/>
                </a:solidFill>
              </a:defRPr>
            </a:pPr>
            <a:r>
              <a:t>Emphasizes similarity across entities.</a:t>
            </a:r>
          </a:p>
        </p:txBody>
      </p:sp>
      <p:sp>
        <p:nvSpPr>
          <p:cNvPr id="210" name="Shape 7"/>
          <p:cNvSpPr/>
          <p:nvPr/>
        </p:nvSpPr>
        <p:spPr>
          <a:xfrm>
            <a:off x="6309359" y="1965960"/>
            <a:ext cx="5394961" cy="3931921"/>
          </a:xfrm>
          <a:prstGeom prst="roundRect">
            <a:avLst>
              <a:gd name="adj" fmla="val 186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100">
                <a:solidFill>
                  <a:srgbClr val="000000"/>
                </a:solidFill>
              </a:defRPr>
            </a:pPr>
          </a:p>
        </p:txBody>
      </p:sp>
      <p:sp>
        <p:nvSpPr>
          <p:cNvPr id="211" name="Text 8"/>
          <p:cNvSpPr txBox="1"/>
          <p:nvPr/>
        </p:nvSpPr>
        <p:spPr>
          <a:xfrm>
            <a:off x="6629400" y="2221230"/>
            <a:ext cx="4754880" cy="3581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Specialization  (Top-Down)</a:t>
            </a:r>
          </a:p>
        </p:txBody>
      </p:sp>
      <p:sp>
        <p:nvSpPr>
          <p:cNvPr id="212" name="Text 9"/>
          <p:cNvSpPr txBox="1"/>
          <p:nvPr/>
        </p:nvSpPr>
        <p:spPr>
          <a:xfrm>
            <a:off x="6629400" y="2697479"/>
            <a:ext cx="4754880" cy="14463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1000"/>
              </a:spcBef>
              <a:buSzPct val="100000"/>
              <a:buChar char="●"/>
              <a:defRPr sz="1500">
                <a:solidFill>
                  <a:srgbClr val="1E2761"/>
                </a:solidFill>
              </a:defRPr>
            </a:pPr>
            <a:r>
              <a:t>Starts from a general superclass and identifies distinct subgroups with extra attributes.</a:t>
            </a:r>
          </a:p>
          <a:p>
            <a:pPr marL="342900" indent="-342900">
              <a:spcBef>
                <a:spcPts val="1000"/>
              </a:spcBef>
              <a:buSzPct val="100000"/>
              <a:buChar char="●"/>
              <a:defRPr sz="1500">
                <a:solidFill>
                  <a:srgbClr val="1E2761"/>
                </a:solidFill>
              </a:defRPr>
            </a:pPr>
            <a:r>
              <a:t>Example: Person is specialized into Student (Program), Faculty (Department), Staff (Role).</a:t>
            </a:r>
          </a:p>
          <a:p>
            <a:pPr marL="342900" indent="-342900">
              <a:spcBef>
                <a:spcPts val="1000"/>
              </a:spcBef>
              <a:buSzPct val="100000"/>
              <a:buChar char="●"/>
              <a:defRPr sz="1500">
                <a:solidFill>
                  <a:srgbClr val="1E2761"/>
                </a:solidFill>
              </a:defRPr>
            </a:pPr>
            <a:r>
              <a:t>Emphasizes distinguishing differences.</a:t>
            </a:r>
          </a:p>
        </p:txBody>
      </p:sp>
      <p:sp>
        <p:nvSpPr>
          <p:cNvPr id="213" name="Text 10"/>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2 · EER Model — University</a:t>
            </a:r>
          </a:p>
        </p:txBody>
      </p:sp>
      <p:sp>
        <p:nvSpPr>
          <p:cNvPr id="214" name="Text 11"/>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217"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2</a:t>
            </a:r>
          </a:p>
        </p:txBody>
      </p:sp>
      <p:sp>
        <p:nvSpPr>
          <p:cNvPr id="218"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CASE STUDY DIAGRAM</a:t>
            </a:r>
          </a:p>
        </p:txBody>
      </p:sp>
      <p:sp>
        <p:nvSpPr>
          <p:cNvPr id="219"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University Superclass / Subclass Hierarchy</a:t>
            </a:r>
          </a:p>
        </p:txBody>
      </p:sp>
      <p:sp>
        <p:nvSpPr>
          <p:cNvPr id="220" name="Shape 4"/>
          <p:cNvSpPr/>
          <p:nvPr/>
        </p:nvSpPr>
        <p:spPr>
          <a:xfrm>
            <a:off x="4754879" y="2011679"/>
            <a:ext cx="274320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221" name="Text 5"/>
          <p:cNvSpPr txBox="1"/>
          <p:nvPr/>
        </p:nvSpPr>
        <p:spPr>
          <a:xfrm>
            <a:off x="4800600" y="2218866"/>
            <a:ext cx="2651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PERSON  (PersonID, Name, Address)</a:t>
            </a:r>
          </a:p>
        </p:txBody>
      </p:sp>
      <p:sp>
        <p:nvSpPr>
          <p:cNvPr id="222" name="Shape 6"/>
          <p:cNvSpPr/>
          <p:nvPr/>
        </p:nvSpPr>
        <p:spPr>
          <a:xfrm>
            <a:off x="6126479" y="2651759"/>
            <a:ext cx="1" cy="502921"/>
          </a:xfrm>
          <a:prstGeom prst="line">
            <a:avLst/>
          </a:prstGeom>
          <a:ln w="15875">
            <a:solidFill>
              <a:srgbClr val="5A6B85"/>
            </a:solidFill>
          </a:ln>
        </p:spPr>
        <p:txBody>
          <a:bodyPr lIns="45719" rIns="45719"/>
          <a:lstStyle/>
          <a:p>
            <a:pPr>
              <a:defRPr sz="1800">
                <a:solidFill>
                  <a:srgbClr val="000000"/>
                </a:solidFill>
              </a:defRPr>
            </a:pPr>
          </a:p>
        </p:txBody>
      </p:sp>
      <p:sp>
        <p:nvSpPr>
          <p:cNvPr id="223" name="Shape 7"/>
          <p:cNvSpPr/>
          <p:nvPr/>
        </p:nvSpPr>
        <p:spPr>
          <a:xfrm>
            <a:off x="5806440" y="3154679"/>
            <a:ext cx="640081" cy="457201"/>
          </a:xfrm>
          <a:prstGeom prst="triangle">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224" name="Text 8"/>
          <p:cNvSpPr txBox="1"/>
          <p:nvPr/>
        </p:nvSpPr>
        <p:spPr>
          <a:xfrm>
            <a:off x="5852160" y="3261359"/>
            <a:ext cx="54864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100">
                <a:solidFill>
                  <a:srgbClr val="1E2761"/>
                </a:solidFill>
                <a:latin typeface="Cambria"/>
                <a:ea typeface="Cambria"/>
                <a:cs typeface="Cambria"/>
                <a:sym typeface="Cambria"/>
              </a:defRPr>
            </a:lvl1pPr>
          </a:lstStyle>
          <a:p>
            <a:pPr/>
            <a:r>
              <a:t>d</a:t>
            </a:r>
          </a:p>
        </p:txBody>
      </p:sp>
      <p:sp>
        <p:nvSpPr>
          <p:cNvPr id="225" name="Shape 9"/>
          <p:cNvSpPr/>
          <p:nvPr/>
        </p:nvSpPr>
        <p:spPr>
          <a:xfrm flipH="1">
            <a:off x="2619755" y="3611880"/>
            <a:ext cx="3506725" cy="594360"/>
          </a:xfrm>
          <a:prstGeom prst="line">
            <a:avLst/>
          </a:prstGeom>
          <a:ln w="15875">
            <a:solidFill>
              <a:srgbClr val="5A6B85"/>
            </a:solidFill>
          </a:ln>
        </p:spPr>
        <p:txBody>
          <a:bodyPr lIns="45719" rIns="45719"/>
          <a:lstStyle/>
          <a:p>
            <a:pPr>
              <a:defRPr sz="1800">
                <a:solidFill>
                  <a:srgbClr val="000000"/>
                </a:solidFill>
              </a:defRPr>
            </a:pPr>
          </a:p>
        </p:txBody>
      </p:sp>
      <p:sp>
        <p:nvSpPr>
          <p:cNvPr id="226" name="Shape 10"/>
          <p:cNvSpPr/>
          <p:nvPr/>
        </p:nvSpPr>
        <p:spPr>
          <a:xfrm>
            <a:off x="1065275" y="4206240"/>
            <a:ext cx="3108962"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227" name="Text 11"/>
          <p:cNvSpPr txBox="1"/>
          <p:nvPr/>
        </p:nvSpPr>
        <p:spPr>
          <a:xfrm>
            <a:off x="1110995" y="4413426"/>
            <a:ext cx="3017522"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STUDENT</a:t>
            </a:r>
          </a:p>
        </p:txBody>
      </p:sp>
      <p:sp>
        <p:nvSpPr>
          <p:cNvPr id="228" name="Text 12"/>
          <p:cNvSpPr txBox="1"/>
          <p:nvPr/>
        </p:nvSpPr>
        <p:spPr>
          <a:xfrm>
            <a:off x="1110995" y="4960664"/>
            <a:ext cx="3017522"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lvl1pPr>
          </a:lstStyle>
          <a:p>
            <a:pPr/>
            <a:r>
              <a:t>Program, Year</a:t>
            </a:r>
          </a:p>
        </p:txBody>
      </p:sp>
      <p:sp>
        <p:nvSpPr>
          <p:cNvPr id="229" name="Shape 13"/>
          <p:cNvSpPr/>
          <p:nvPr/>
        </p:nvSpPr>
        <p:spPr>
          <a:xfrm flipH="1">
            <a:off x="6094476" y="3611879"/>
            <a:ext cx="32005" cy="594361"/>
          </a:xfrm>
          <a:prstGeom prst="line">
            <a:avLst/>
          </a:prstGeom>
          <a:ln w="15875">
            <a:solidFill>
              <a:srgbClr val="5A6B85"/>
            </a:solidFill>
          </a:ln>
        </p:spPr>
        <p:txBody>
          <a:bodyPr lIns="45719" rIns="45719"/>
          <a:lstStyle/>
          <a:p>
            <a:pPr>
              <a:defRPr sz="1800">
                <a:solidFill>
                  <a:srgbClr val="000000"/>
                </a:solidFill>
              </a:defRPr>
            </a:pPr>
          </a:p>
        </p:txBody>
      </p:sp>
      <p:sp>
        <p:nvSpPr>
          <p:cNvPr id="230" name="Shape 14"/>
          <p:cNvSpPr/>
          <p:nvPr/>
        </p:nvSpPr>
        <p:spPr>
          <a:xfrm>
            <a:off x="4539996" y="4206240"/>
            <a:ext cx="31089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231" name="Text 15"/>
          <p:cNvSpPr txBox="1"/>
          <p:nvPr/>
        </p:nvSpPr>
        <p:spPr>
          <a:xfrm>
            <a:off x="4585716" y="4413426"/>
            <a:ext cx="301752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FACULTY</a:t>
            </a:r>
          </a:p>
        </p:txBody>
      </p:sp>
      <p:sp>
        <p:nvSpPr>
          <p:cNvPr id="232" name="Text 16"/>
          <p:cNvSpPr txBox="1"/>
          <p:nvPr/>
        </p:nvSpPr>
        <p:spPr>
          <a:xfrm>
            <a:off x="4585716" y="4960664"/>
            <a:ext cx="30175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lvl1pPr>
          </a:lstStyle>
          <a:p>
            <a:pPr/>
            <a:r>
              <a:t>Department, Rank</a:t>
            </a:r>
          </a:p>
        </p:txBody>
      </p:sp>
      <p:sp>
        <p:nvSpPr>
          <p:cNvPr id="233" name="Shape 17"/>
          <p:cNvSpPr/>
          <p:nvPr/>
        </p:nvSpPr>
        <p:spPr>
          <a:xfrm>
            <a:off x="6126479" y="3611880"/>
            <a:ext cx="3442717" cy="594360"/>
          </a:xfrm>
          <a:prstGeom prst="line">
            <a:avLst/>
          </a:prstGeom>
          <a:ln w="15875">
            <a:solidFill>
              <a:srgbClr val="5A6B85"/>
            </a:solidFill>
          </a:ln>
        </p:spPr>
        <p:txBody>
          <a:bodyPr lIns="45719" rIns="45719"/>
          <a:lstStyle/>
          <a:p>
            <a:pPr>
              <a:defRPr sz="1800">
                <a:solidFill>
                  <a:srgbClr val="000000"/>
                </a:solidFill>
              </a:defRPr>
            </a:pPr>
          </a:p>
        </p:txBody>
      </p:sp>
      <p:sp>
        <p:nvSpPr>
          <p:cNvPr id="234" name="Shape 18"/>
          <p:cNvSpPr/>
          <p:nvPr/>
        </p:nvSpPr>
        <p:spPr>
          <a:xfrm>
            <a:off x="8014716" y="4206240"/>
            <a:ext cx="3108961" cy="64008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235" name="Text 19"/>
          <p:cNvSpPr txBox="1"/>
          <p:nvPr/>
        </p:nvSpPr>
        <p:spPr>
          <a:xfrm>
            <a:off x="8060435" y="4413426"/>
            <a:ext cx="301752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STAFF</a:t>
            </a:r>
          </a:p>
        </p:txBody>
      </p:sp>
      <p:sp>
        <p:nvSpPr>
          <p:cNvPr id="236" name="Text 20"/>
          <p:cNvSpPr txBox="1"/>
          <p:nvPr/>
        </p:nvSpPr>
        <p:spPr>
          <a:xfrm>
            <a:off x="8060435" y="4960664"/>
            <a:ext cx="301752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lvl1pPr>
          </a:lstStyle>
          <a:p>
            <a:pPr/>
            <a:r>
              <a:t>Role, Shift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239"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2</a:t>
            </a:r>
          </a:p>
        </p:txBody>
      </p:sp>
      <p:sp>
        <p:nvSpPr>
          <p:cNvPr id="240"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SPECIALIZATION CONSTRAINTS</a:t>
            </a:r>
          </a:p>
        </p:txBody>
      </p:sp>
      <p:sp>
        <p:nvSpPr>
          <p:cNvPr id="241"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Disjoint/Overlapping &amp; Total/Partial</a:t>
            </a:r>
          </a:p>
        </p:txBody>
      </p:sp>
      <p:graphicFrame>
        <p:nvGraphicFramePr>
          <p:cNvPr id="242" name="Table 0"/>
          <p:cNvGraphicFramePr/>
          <p:nvPr/>
        </p:nvGraphicFramePr>
        <p:xfrm>
          <a:off x="457200" y="1965960"/>
          <a:ext cx="11247120" cy="4114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77440"/>
                <a:gridCol w="4572000"/>
                <a:gridCol w="4297680"/>
              </a:tblGrid>
              <a:tr h="822960">
                <a:tc>
                  <a:txBody>
                    <a:bodyPr/>
                    <a:lstStyle/>
                    <a:p>
                      <a:pPr algn="l">
                        <a:defRPr sz="1800"/>
                      </a:pPr>
                      <a:r>
                        <a:rPr b="1" sz="1200">
                          <a:solidFill>
                            <a:srgbClr val="FFFFFF"/>
                          </a:solidFill>
                        </a:rPr>
                        <a:t>Constraint</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c>
                  <a:txBody>
                    <a:bodyPr/>
                    <a:lstStyle/>
                    <a:p>
                      <a:pPr algn="l">
                        <a:defRPr sz="1800"/>
                      </a:pPr>
                      <a:r>
                        <a:rPr b="1" sz="1200">
                          <a:solidFill>
                            <a:srgbClr val="FFFFFF"/>
                          </a:solidFill>
                        </a:rPr>
                        <a:t>Meaning</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c>
                  <a:txBody>
                    <a:bodyPr/>
                    <a:lstStyle/>
                    <a:p>
                      <a:pPr algn="l">
                        <a:defRPr sz="1800"/>
                      </a:pPr>
                      <a:r>
                        <a:rPr b="1" sz="1200">
                          <a:solidFill>
                            <a:srgbClr val="FFFFFF"/>
                          </a:solidFill>
                        </a:rPr>
                        <a:t>University Example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r>
              <a:tr h="822960">
                <a:tc>
                  <a:txBody>
                    <a:bodyPr/>
                    <a:lstStyle/>
                    <a:p>
                      <a:pPr algn="l">
                        <a:defRPr sz="1800"/>
                      </a:pPr>
                      <a:r>
                        <a:rPr sz="1300">
                          <a:solidFill>
                            <a:srgbClr val="1E2761"/>
                          </a:solidFill>
                        </a:rPr>
                        <a:t>Disjoint (d)</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An entity instance can belong to only one subclass.</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A Person is either Student, Faculty, or Staff — not more than one.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822960">
                <a:tc>
                  <a:txBody>
                    <a:bodyPr/>
                    <a:lstStyle/>
                    <a:p>
                      <a:pPr algn="l">
                        <a:defRPr sz="1800"/>
                      </a:pPr>
                      <a:r>
                        <a:rPr sz="1200">
                          <a:solidFill>
                            <a:srgbClr val="1E2761"/>
                          </a:solidFill>
                        </a:rPr>
                        <a:t>Overlapping (o)</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An entity instance may belong to more than one subclass at once.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A Person can be both Faculty and Staff (e.g., a professor holding an admin role).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822960">
                <a:tc>
                  <a:txBody>
                    <a:bodyPr/>
                    <a:lstStyle/>
                    <a:p>
                      <a:pPr algn="l">
                        <a:defRPr sz="1800"/>
                      </a:pPr>
                      <a:r>
                        <a:rPr sz="1200">
                          <a:solidFill>
                            <a:srgbClr val="1E2761"/>
                          </a:solidFill>
                        </a:rPr>
                        <a:t>Total Participation</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Every superclass instance must belong to at least one subclass.</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Every Person record must map to Student, Faculty, or Staff.</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822960">
                <a:tc>
                  <a:txBody>
                    <a:bodyPr/>
                    <a:lstStyle/>
                    <a:p>
                      <a:pPr algn="l">
                        <a:defRPr sz="1800"/>
                      </a:pPr>
                      <a:r>
                        <a:rPr sz="1200">
                          <a:solidFill>
                            <a:srgbClr val="1E2761"/>
                          </a:solidFill>
                        </a:rPr>
                        <a:t>Partial Participation</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Superclass instances may exist without belonging to any subclass.</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A Guest visitor recorded as Person but not yet classified.</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bl>
          </a:graphicData>
        </a:graphic>
      </p:graphicFrame>
      <p:sp>
        <p:nvSpPr>
          <p:cNvPr id="243" name="Text 4"/>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2 · EER Model — University</a:t>
            </a:r>
          </a:p>
        </p:txBody>
      </p:sp>
      <p:sp>
        <p:nvSpPr>
          <p:cNvPr id="244" name="Text 5"/>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11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247"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2</a:t>
            </a:r>
          </a:p>
        </p:txBody>
      </p:sp>
      <p:sp>
        <p:nvSpPr>
          <p:cNvPr id="248"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WHY EER MATTERS</a:t>
            </a:r>
          </a:p>
        </p:txBody>
      </p:sp>
      <p:sp>
        <p:nvSpPr>
          <p:cNvPr id="249" name="Text 3"/>
          <p:cNvSpPr txBox="1"/>
          <p:nvPr/>
        </p:nvSpPr>
        <p:spPr>
          <a:xfrm>
            <a:off x="502919" y="11099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Benefits of EER Modeling</a:t>
            </a:r>
          </a:p>
        </p:txBody>
      </p:sp>
      <p:sp>
        <p:nvSpPr>
          <p:cNvPr id="250" name="Shape 4"/>
          <p:cNvSpPr/>
          <p:nvPr/>
        </p:nvSpPr>
        <p:spPr>
          <a:xfrm>
            <a:off x="457200" y="1965960"/>
            <a:ext cx="5394960" cy="1920240"/>
          </a:xfrm>
          <a:prstGeom prst="roundRect">
            <a:avLst>
              <a:gd name="adj" fmla="val 381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251" name="Shape 5"/>
          <p:cNvSpPr/>
          <p:nvPr/>
        </p:nvSpPr>
        <p:spPr>
          <a:xfrm>
            <a:off x="685800" y="2194560"/>
            <a:ext cx="457200" cy="457201"/>
          </a:xfrm>
          <a:prstGeom prst="ellipse">
            <a:avLst/>
          </a:prstGeom>
          <a:solidFill>
            <a:srgbClr val="E8A33D"/>
          </a:solidFill>
          <a:ln w="12700">
            <a:miter lim="400000"/>
          </a:ln>
        </p:spPr>
        <p:txBody>
          <a:bodyPr lIns="45719" rIns="45719"/>
          <a:lstStyle/>
          <a:p>
            <a:pPr>
              <a:defRPr sz="2200">
                <a:solidFill>
                  <a:srgbClr val="000000"/>
                </a:solidFill>
              </a:defRPr>
            </a:pPr>
          </a:p>
        </p:txBody>
      </p:sp>
      <p:sp>
        <p:nvSpPr>
          <p:cNvPr id="252" name="Text 6"/>
          <p:cNvSpPr txBox="1"/>
          <p:nvPr/>
        </p:nvSpPr>
        <p:spPr>
          <a:xfrm>
            <a:off x="731519" y="2269490"/>
            <a:ext cx="365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1E2761"/>
                </a:solidFill>
                <a:latin typeface="Cambria"/>
                <a:ea typeface="Cambria"/>
                <a:cs typeface="Cambria"/>
                <a:sym typeface="Cambria"/>
              </a:defRPr>
            </a:lvl1pPr>
          </a:lstStyle>
          <a:p>
            <a:pPr/>
            <a:r>
              <a:t>1</a:t>
            </a:r>
          </a:p>
        </p:txBody>
      </p:sp>
      <p:sp>
        <p:nvSpPr>
          <p:cNvPr id="253" name="Text 7"/>
          <p:cNvSpPr txBox="1"/>
          <p:nvPr/>
        </p:nvSpPr>
        <p:spPr>
          <a:xfrm>
            <a:off x="1371600" y="2244090"/>
            <a:ext cx="420624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Attribute Inheritance</a:t>
            </a:r>
          </a:p>
        </p:txBody>
      </p:sp>
      <p:sp>
        <p:nvSpPr>
          <p:cNvPr id="254" name="Text 8"/>
          <p:cNvSpPr txBox="1"/>
          <p:nvPr/>
        </p:nvSpPr>
        <p:spPr>
          <a:xfrm>
            <a:off x="777239" y="2788920"/>
            <a:ext cx="4754881" cy="554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1E2761"/>
                </a:solidFill>
              </a:defRPr>
            </a:lvl1pPr>
          </a:lstStyle>
          <a:p>
            <a:pPr/>
            <a:r>
              <a:t>Subclasses automatically inherit superclass attributes and relationships, cutting duplication.</a:t>
            </a:r>
          </a:p>
        </p:txBody>
      </p:sp>
      <p:sp>
        <p:nvSpPr>
          <p:cNvPr id="255" name="Shape 9"/>
          <p:cNvSpPr/>
          <p:nvPr/>
        </p:nvSpPr>
        <p:spPr>
          <a:xfrm>
            <a:off x="6126479" y="1965960"/>
            <a:ext cx="5394961" cy="1920240"/>
          </a:xfrm>
          <a:prstGeom prst="roundRect">
            <a:avLst>
              <a:gd name="adj" fmla="val 381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256" name="Shape 10"/>
          <p:cNvSpPr/>
          <p:nvPr/>
        </p:nvSpPr>
        <p:spPr>
          <a:xfrm>
            <a:off x="6355079" y="2194560"/>
            <a:ext cx="457201" cy="457201"/>
          </a:xfrm>
          <a:prstGeom prst="ellipse">
            <a:avLst/>
          </a:prstGeom>
          <a:solidFill>
            <a:srgbClr val="E8A33D"/>
          </a:solidFill>
          <a:ln w="12700">
            <a:miter lim="400000"/>
          </a:ln>
        </p:spPr>
        <p:txBody>
          <a:bodyPr lIns="45719" rIns="45719"/>
          <a:lstStyle/>
          <a:p>
            <a:pPr>
              <a:defRPr sz="2200">
                <a:solidFill>
                  <a:srgbClr val="000000"/>
                </a:solidFill>
              </a:defRPr>
            </a:pPr>
          </a:p>
        </p:txBody>
      </p:sp>
      <p:sp>
        <p:nvSpPr>
          <p:cNvPr id="257" name="Text 11"/>
          <p:cNvSpPr txBox="1"/>
          <p:nvPr/>
        </p:nvSpPr>
        <p:spPr>
          <a:xfrm>
            <a:off x="6400800" y="2269490"/>
            <a:ext cx="3657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1E2761"/>
                </a:solidFill>
                <a:latin typeface="Cambria"/>
                <a:ea typeface="Cambria"/>
                <a:cs typeface="Cambria"/>
                <a:sym typeface="Cambria"/>
              </a:defRPr>
            </a:lvl1pPr>
          </a:lstStyle>
          <a:p>
            <a:pPr/>
            <a:r>
              <a:t>2</a:t>
            </a:r>
          </a:p>
        </p:txBody>
      </p:sp>
      <p:sp>
        <p:nvSpPr>
          <p:cNvPr id="258" name="Text 12"/>
          <p:cNvSpPr txBox="1"/>
          <p:nvPr/>
        </p:nvSpPr>
        <p:spPr>
          <a:xfrm>
            <a:off x="7040879" y="2244090"/>
            <a:ext cx="420624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Real-World Accuracy</a:t>
            </a:r>
          </a:p>
        </p:txBody>
      </p:sp>
      <p:sp>
        <p:nvSpPr>
          <p:cNvPr id="259" name="Text 13"/>
          <p:cNvSpPr txBox="1"/>
          <p:nvPr/>
        </p:nvSpPr>
        <p:spPr>
          <a:xfrm>
            <a:off x="6446520" y="2788920"/>
            <a:ext cx="4754880" cy="554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1E2761"/>
                </a:solidFill>
              </a:defRPr>
            </a:lvl1pPr>
          </a:lstStyle>
          <a:p>
            <a:pPr/>
            <a:r>
              <a:t>Captures natural hierarchies (Person → Student/Faculty/Staff) that plain ER cannot express cleanly.</a:t>
            </a:r>
          </a:p>
        </p:txBody>
      </p:sp>
      <p:sp>
        <p:nvSpPr>
          <p:cNvPr id="260" name="Shape 14"/>
          <p:cNvSpPr/>
          <p:nvPr/>
        </p:nvSpPr>
        <p:spPr>
          <a:xfrm>
            <a:off x="457200" y="4160520"/>
            <a:ext cx="5394960" cy="1920241"/>
          </a:xfrm>
          <a:prstGeom prst="roundRect">
            <a:avLst>
              <a:gd name="adj" fmla="val 381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261" name="Shape 15"/>
          <p:cNvSpPr/>
          <p:nvPr/>
        </p:nvSpPr>
        <p:spPr>
          <a:xfrm>
            <a:off x="685800" y="4389120"/>
            <a:ext cx="457200" cy="457201"/>
          </a:xfrm>
          <a:prstGeom prst="ellipse">
            <a:avLst/>
          </a:prstGeom>
          <a:solidFill>
            <a:srgbClr val="E8A33D"/>
          </a:solidFill>
          <a:ln w="12700">
            <a:miter lim="400000"/>
          </a:ln>
        </p:spPr>
        <p:txBody>
          <a:bodyPr lIns="45719" rIns="45719"/>
          <a:lstStyle/>
          <a:p>
            <a:pPr>
              <a:defRPr sz="2200">
                <a:solidFill>
                  <a:srgbClr val="000000"/>
                </a:solidFill>
              </a:defRPr>
            </a:pPr>
          </a:p>
        </p:txBody>
      </p:sp>
      <p:sp>
        <p:nvSpPr>
          <p:cNvPr id="262" name="Text 16"/>
          <p:cNvSpPr txBox="1"/>
          <p:nvPr/>
        </p:nvSpPr>
        <p:spPr>
          <a:xfrm>
            <a:off x="731519" y="4464050"/>
            <a:ext cx="3657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1E2761"/>
                </a:solidFill>
                <a:latin typeface="Cambria"/>
                <a:ea typeface="Cambria"/>
                <a:cs typeface="Cambria"/>
                <a:sym typeface="Cambria"/>
              </a:defRPr>
            </a:lvl1pPr>
          </a:lstStyle>
          <a:p>
            <a:pPr/>
            <a:r>
              <a:t>3</a:t>
            </a:r>
          </a:p>
        </p:txBody>
      </p:sp>
      <p:sp>
        <p:nvSpPr>
          <p:cNvPr id="263" name="Text 17"/>
          <p:cNvSpPr txBox="1"/>
          <p:nvPr/>
        </p:nvSpPr>
        <p:spPr>
          <a:xfrm>
            <a:off x="1371600" y="4438650"/>
            <a:ext cx="420624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Design Clarity</a:t>
            </a:r>
          </a:p>
        </p:txBody>
      </p:sp>
      <p:sp>
        <p:nvSpPr>
          <p:cNvPr id="264" name="Text 18"/>
          <p:cNvSpPr txBox="1"/>
          <p:nvPr/>
        </p:nvSpPr>
        <p:spPr>
          <a:xfrm>
            <a:off x="777239" y="4983479"/>
            <a:ext cx="4754881" cy="55459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1E2761"/>
                </a:solidFill>
              </a:defRPr>
            </a:lvl1pPr>
          </a:lstStyle>
          <a:p>
            <a:pPr/>
            <a:r>
              <a:t>Constraints (disjoint/overlapping, total/partial) make business rules explicit at design time.</a:t>
            </a:r>
          </a:p>
        </p:txBody>
      </p:sp>
      <p:sp>
        <p:nvSpPr>
          <p:cNvPr id="265" name="Shape 19"/>
          <p:cNvSpPr/>
          <p:nvPr/>
        </p:nvSpPr>
        <p:spPr>
          <a:xfrm>
            <a:off x="6126479" y="4160520"/>
            <a:ext cx="5394961" cy="1920241"/>
          </a:xfrm>
          <a:prstGeom prst="roundRect">
            <a:avLst>
              <a:gd name="adj" fmla="val 381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266" name="Shape 20"/>
          <p:cNvSpPr/>
          <p:nvPr/>
        </p:nvSpPr>
        <p:spPr>
          <a:xfrm>
            <a:off x="6355079" y="4389120"/>
            <a:ext cx="457201" cy="457201"/>
          </a:xfrm>
          <a:prstGeom prst="ellipse">
            <a:avLst/>
          </a:prstGeom>
          <a:solidFill>
            <a:srgbClr val="E8A33D"/>
          </a:solidFill>
          <a:ln w="12700">
            <a:miter lim="400000"/>
          </a:ln>
        </p:spPr>
        <p:txBody>
          <a:bodyPr lIns="45719" rIns="45719"/>
          <a:lstStyle/>
          <a:p>
            <a:pPr>
              <a:defRPr sz="2200">
                <a:solidFill>
                  <a:srgbClr val="000000"/>
                </a:solidFill>
              </a:defRPr>
            </a:pPr>
          </a:p>
        </p:txBody>
      </p:sp>
      <p:sp>
        <p:nvSpPr>
          <p:cNvPr id="267" name="Text 21"/>
          <p:cNvSpPr txBox="1"/>
          <p:nvPr/>
        </p:nvSpPr>
        <p:spPr>
          <a:xfrm>
            <a:off x="6400800" y="4464050"/>
            <a:ext cx="36576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500">
                <a:solidFill>
                  <a:srgbClr val="1E2761"/>
                </a:solidFill>
                <a:latin typeface="Cambria"/>
                <a:ea typeface="Cambria"/>
                <a:cs typeface="Cambria"/>
                <a:sym typeface="Cambria"/>
              </a:defRPr>
            </a:lvl1pPr>
          </a:lstStyle>
          <a:p>
            <a:pPr/>
            <a:r>
              <a:t>4</a:t>
            </a:r>
          </a:p>
        </p:txBody>
      </p:sp>
      <p:sp>
        <p:nvSpPr>
          <p:cNvPr id="268" name="Text 22"/>
          <p:cNvSpPr txBox="1"/>
          <p:nvPr/>
        </p:nvSpPr>
        <p:spPr>
          <a:xfrm>
            <a:off x="7040879" y="4438650"/>
            <a:ext cx="420624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Smoother Mapping to Tables</a:t>
            </a:r>
          </a:p>
        </p:txBody>
      </p:sp>
      <p:sp>
        <p:nvSpPr>
          <p:cNvPr id="269" name="Text 23"/>
          <p:cNvSpPr txBox="1"/>
          <p:nvPr/>
        </p:nvSpPr>
        <p:spPr>
          <a:xfrm>
            <a:off x="6446520" y="4983479"/>
            <a:ext cx="4754880" cy="55459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1E2761"/>
                </a:solidFill>
              </a:defRPr>
            </a:lvl1pPr>
          </a:lstStyle>
          <a:p>
            <a:pPr/>
            <a:r>
              <a:t>Well-defined subclass hierarchies translate predictably into relational schemas.</a:t>
            </a:r>
          </a:p>
        </p:txBody>
      </p:sp>
      <p:sp>
        <p:nvSpPr>
          <p:cNvPr id="270" name="Text 24"/>
          <p:cNvSpPr txBox="1"/>
          <p:nvPr/>
        </p:nvSpPr>
        <p:spPr>
          <a:xfrm>
            <a:off x="502919" y="653472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400"/>
            </a:lvl1pPr>
          </a:lstStyle>
          <a:p>
            <a:pPr/>
            <a:r>
              <a:t>Topic 2 · EER Model — University</a:t>
            </a:r>
          </a:p>
        </p:txBody>
      </p:sp>
      <p:sp>
        <p:nvSpPr>
          <p:cNvPr id="271" name="Text 25"/>
          <p:cNvSpPr txBox="1"/>
          <p:nvPr/>
        </p:nvSpPr>
        <p:spPr>
          <a:xfrm>
            <a:off x="11292839" y="6534720"/>
            <a:ext cx="365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400"/>
            </a:lvl1pPr>
          </a:lstStyle>
          <a:p>
            <a:pPr/>
            <a:r>
              <a:t>12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274"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3</a:t>
            </a:r>
          </a:p>
        </p:txBody>
      </p:sp>
      <p:sp>
        <p:nvSpPr>
          <p:cNvPr id="275"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TOPIC 3 OF 5</a:t>
            </a:r>
          </a:p>
        </p:txBody>
      </p:sp>
      <p:sp>
        <p:nvSpPr>
          <p:cNvPr id="276" name="Text 3"/>
          <p:cNvSpPr txBox="1"/>
          <p:nvPr/>
        </p:nvSpPr>
        <p:spPr>
          <a:xfrm>
            <a:off x="2522219" y="2252980"/>
            <a:ext cx="111556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Data Independence in DBMS Architecture</a:t>
            </a:r>
          </a:p>
        </p:txBody>
      </p:sp>
      <p:sp>
        <p:nvSpPr>
          <p:cNvPr id="277" name="Text 4"/>
          <p:cNvSpPr txBox="1"/>
          <p:nvPr/>
        </p:nvSpPr>
        <p:spPr>
          <a:xfrm>
            <a:off x="2133610" y="3122143"/>
            <a:ext cx="8138160" cy="138571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5000"/>
              </a:lnSpc>
              <a:defRPr sz="1900">
                <a:solidFill>
                  <a:srgbClr val="1E2761"/>
                </a:solidFill>
              </a:defRPr>
            </a:lvl1pPr>
          </a:lstStyle>
          <a:p>
            <a:pPr/>
            <a:r>
              <a:t>Data independence is the capacity to change a schema at one level of a database system without having to change the schema at the next higher level. It is the reason applications keep running even as storage details or reporting views evolve — a cornerstone of the ANSI/SPARC three-schema architecture.</a:t>
            </a:r>
          </a:p>
        </p:txBody>
      </p:sp>
      <p:sp>
        <p:nvSpPr>
          <p:cNvPr id="278" name="Text 8"/>
          <p:cNvSpPr txBox="1"/>
          <p:nvPr/>
        </p:nvSpPr>
        <p:spPr>
          <a:xfrm>
            <a:off x="7635239" y="2695194"/>
            <a:ext cx="201169"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700">
                <a:solidFill>
                  <a:srgbClr val="1E2761"/>
                </a:solidFill>
                <a:latin typeface="Cambria"/>
                <a:ea typeface="Cambria"/>
                <a:cs typeface="Cambria"/>
                <a:sym typeface="Cambria"/>
              </a:defRPr>
            </a:lvl1pPr>
          </a:lstStyle>
          <a:p>
            <a:pPr/>
            <a:r>
              <a:t>1</a:t>
            </a:r>
          </a:p>
        </p:txBody>
      </p:sp>
      <p:sp>
        <p:nvSpPr>
          <p:cNvPr id="279" name="Text 22"/>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3 · Data Independence</a:t>
            </a:r>
          </a:p>
        </p:txBody>
      </p:sp>
      <p:sp>
        <p:nvSpPr>
          <p:cNvPr id="280" name="Text 23"/>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13</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283"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3</a:t>
            </a:r>
          </a:p>
        </p:txBody>
      </p:sp>
      <p:sp>
        <p:nvSpPr>
          <p:cNvPr id="284"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THREE-SCHEMA ARCHITECTURE</a:t>
            </a:r>
          </a:p>
        </p:txBody>
      </p:sp>
      <p:sp>
        <p:nvSpPr>
          <p:cNvPr id="285"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Where Independence Lives</a:t>
            </a:r>
          </a:p>
        </p:txBody>
      </p:sp>
      <p:sp>
        <p:nvSpPr>
          <p:cNvPr id="286" name="Shape 4"/>
          <p:cNvSpPr/>
          <p:nvPr/>
        </p:nvSpPr>
        <p:spPr>
          <a:xfrm>
            <a:off x="2651760" y="1965960"/>
            <a:ext cx="6858001" cy="1188721"/>
          </a:xfrm>
          <a:prstGeom prst="roundRect">
            <a:avLst>
              <a:gd name="adj" fmla="val 6154"/>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287" name="Text 5"/>
          <p:cNvSpPr txBox="1"/>
          <p:nvPr/>
        </p:nvSpPr>
        <p:spPr>
          <a:xfrm>
            <a:off x="2971799" y="2066797"/>
            <a:ext cx="621792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solidFill>
                  <a:srgbClr val="1E2761"/>
                </a:solidFill>
                <a:latin typeface="Cambria"/>
                <a:ea typeface="Cambria"/>
                <a:cs typeface="Cambria"/>
                <a:sym typeface="Cambria"/>
              </a:defRPr>
            </a:lvl1pPr>
          </a:lstStyle>
          <a:p>
            <a:pPr/>
            <a:r>
              <a:t>External Level</a:t>
            </a:r>
          </a:p>
        </p:txBody>
      </p:sp>
      <p:sp>
        <p:nvSpPr>
          <p:cNvPr id="288" name="Text 6"/>
          <p:cNvSpPr txBox="1"/>
          <p:nvPr/>
        </p:nvSpPr>
        <p:spPr>
          <a:xfrm>
            <a:off x="2971799" y="2468879"/>
            <a:ext cx="6217921" cy="31049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1E2761"/>
                </a:solidFill>
              </a:defRPr>
            </a:lvl1pPr>
          </a:lstStyle>
          <a:p>
            <a:pPr/>
            <a:r>
              <a:t>User views — how individual users/apps see the data.</a:t>
            </a:r>
          </a:p>
        </p:txBody>
      </p:sp>
      <p:sp>
        <p:nvSpPr>
          <p:cNvPr id="289" name="Shape 7"/>
          <p:cNvSpPr/>
          <p:nvPr/>
        </p:nvSpPr>
        <p:spPr>
          <a:xfrm>
            <a:off x="6080759" y="3154679"/>
            <a:ext cx="1" cy="228601"/>
          </a:xfrm>
          <a:prstGeom prst="line">
            <a:avLst/>
          </a:prstGeom>
          <a:ln w="15875">
            <a:solidFill>
              <a:srgbClr val="5A6B85"/>
            </a:solidFill>
          </a:ln>
        </p:spPr>
        <p:txBody>
          <a:bodyPr lIns="45719" rIns="45719"/>
          <a:lstStyle/>
          <a:p>
            <a:pPr>
              <a:defRPr sz="1800">
                <a:solidFill>
                  <a:srgbClr val="000000"/>
                </a:solidFill>
              </a:defRPr>
            </a:pPr>
          </a:p>
        </p:txBody>
      </p:sp>
      <p:sp>
        <p:nvSpPr>
          <p:cNvPr id="290" name="Shape 8"/>
          <p:cNvSpPr/>
          <p:nvPr/>
        </p:nvSpPr>
        <p:spPr>
          <a:xfrm>
            <a:off x="2651760" y="3383279"/>
            <a:ext cx="6858001" cy="1188721"/>
          </a:xfrm>
          <a:prstGeom prst="roundRect">
            <a:avLst>
              <a:gd name="adj" fmla="val 6154"/>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291" name="Text 9"/>
          <p:cNvSpPr txBox="1"/>
          <p:nvPr/>
        </p:nvSpPr>
        <p:spPr>
          <a:xfrm>
            <a:off x="2971799" y="3484118"/>
            <a:ext cx="621792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solidFill>
                  <a:srgbClr val="1E2761"/>
                </a:solidFill>
                <a:latin typeface="Cambria"/>
                <a:ea typeface="Cambria"/>
                <a:cs typeface="Cambria"/>
                <a:sym typeface="Cambria"/>
              </a:defRPr>
            </a:lvl1pPr>
          </a:lstStyle>
          <a:p>
            <a:pPr/>
            <a:r>
              <a:t>Conceptual Level</a:t>
            </a:r>
          </a:p>
        </p:txBody>
      </p:sp>
      <p:sp>
        <p:nvSpPr>
          <p:cNvPr id="292" name="Text 10"/>
          <p:cNvSpPr txBox="1"/>
          <p:nvPr/>
        </p:nvSpPr>
        <p:spPr>
          <a:xfrm>
            <a:off x="2971799" y="3886200"/>
            <a:ext cx="6217921" cy="5771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1E2761"/>
                </a:solidFill>
              </a:defRPr>
            </a:lvl1pPr>
          </a:lstStyle>
          <a:p>
            <a:pPr/>
            <a:r>
              <a:t>Community view — entities, relationships, constraints for the whole database.</a:t>
            </a:r>
          </a:p>
        </p:txBody>
      </p:sp>
      <p:sp>
        <p:nvSpPr>
          <p:cNvPr id="293" name="Shape 11"/>
          <p:cNvSpPr/>
          <p:nvPr/>
        </p:nvSpPr>
        <p:spPr>
          <a:xfrm>
            <a:off x="6080759" y="4572000"/>
            <a:ext cx="1" cy="228600"/>
          </a:xfrm>
          <a:prstGeom prst="line">
            <a:avLst/>
          </a:prstGeom>
          <a:ln w="15875">
            <a:solidFill>
              <a:srgbClr val="5A6B85"/>
            </a:solidFill>
          </a:ln>
        </p:spPr>
        <p:txBody>
          <a:bodyPr lIns="45719" rIns="45719"/>
          <a:lstStyle/>
          <a:p>
            <a:pPr>
              <a:defRPr sz="1800">
                <a:solidFill>
                  <a:srgbClr val="000000"/>
                </a:solidFill>
              </a:defRPr>
            </a:pPr>
          </a:p>
        </p:txBody>
      </p:sp>
      <p:sp>
        <p:nvSpPr>
          <p:cNvPr id="294" name="Shape 12"/>
          <p:cNvSpPr/>
          <p:nvPr/>
        </p:nvSpPr>
        <p:spPr>
          <a:xfrm>
            <a:off x="2651760" y="4800600"/>
            <a:ext cx="6858001" cy="1188720"/>
          </a:xfrm>
          <a:prstGeom prst="roundRect">
            <a:avLst>
              <a:gd name="adj" fmla="val 6154"/>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295" name="Text 13"/>
          <p:cNvSpPr txBox="1"/>
          <p:nvPr/>
        </p:nvSpPr>
        <p:spPr>
          <a:xfrm>
            <a:off x="2971799" y="4901438"/>
            <a:ext cx="621792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solidFill>
                  <a:srgbClr val="1E2761"/>
                </a:solidFill>
                <a:latin typeface="Cambria"/>
                <a:ea typeface="Cambria"/>
                <a:cs typeface="Cambria"/>
                <a:sym typeface="Cambria"/>
              </a:defRPr>
            </a:lvl1pPr>
          </a:lstStyle>
          <a:p>
            <a:pPr/>
            <a:r>
              <a:t>Internal Level</a:t>
            </a:r>
          </a:p>
        </p:txBody>
      </p:sp>
      <p:sp>
        <p:nvSpPr>
          <p:cNvPr id="296" name="Text 14"/>
          <p:cNvSpPr txBox="1"/>
          <p:nvPr/>
        </p:nvSpPr>
        <p:spPr>
          <a:xfrm>
            <a:off x="2971799" y="5303520"/>
            <a:ext cx="6217921" cy="3104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1E2761"/>
                </a:solidFill>
              </a:defRPr>
            </a:lvl1pPr>
          </a:lstStyle>
          <a:p>
            <a:pPr/>
            <a:r>
              <a:t>Physical storage — files, indexes, access paths on disk.</a:t>
            </a:r>
          </a:p>
        </p:txBody>
      </p:sp>
      <p:sp>
        <p:nvSpPr>
          <p:cNvPr id="297" name="Shape 15"/>
          <p:cNvSpPr/>
          <p:nvPr/>
        </p:nvSpPr>
        <p:spPr>
          <a:xfrm>
            <a:off x="1554480" y="1965960"/>
            <a:ext cx="457201" cy="1188721"/>
          </a:xfrm>
          <a:prstGeom prst="rect">
            <a:avLst/>
          </a:prstGeom>
          <a:solidFill>
            <a:srgbClr val="E8A33D"/>
          </a:solidFill>
          <a:ln w="12700">
            <a:miter lim="400000"/>
          </a:ln>
        </p:spPr>
        <p:txBody>
          <a:bodyPr lIns="45719" rIns="45719"/>
          <a:lstStyle/>
          <a:p>
            <a:pPr>
              <a:defRPr sz="2300">
                <a:solidFill>
                  <a:srgbClr val="000000"/>
                </a:solidFill>
              </a:defRPr>
            </a:pPr>
          </a:p>
        </p:txBody>
      </p:sp>
      <p:sp>
        <p:nvSpPr>
          <p:cNvPr id="298" name="Text 16"/>
          <p:cNvSpPr txBox="1"/>
          <p:nvPr/>
        </p:nvSpPr>
        <p:spPr>
          <a:xfrm>
            <a:off x="411479" y="2305620"/>
            <a:ext cx="1280162" cy="5094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400">
                <a:solidFill>
                  <a:srgbClr val="1E2761"/>
                </a:solidFill>
              </a:defRPr>
            </a:pPr>
            <a:r>
              <a:t>Logical</a:t>
            </a:r>
          </a:p>
          <a:p>
            <a:pPr algn="ctr">
              <a:defRPr b="1" sz="1400">
                <a:solidFill>
                  <a:srgbClr val="1E2761"/>
                </a:solidFill>
              </a:defRPr>
            </a:pPr>
            <a:r>
              <a:t>Independence</a:t>
            </a:r>
          </a:p>
        </p:txBody>
      </p:sp>
      <p:sp>
        <p:nvSpPr>
          <p:cNvPr id="299" name="Shape 17"/>
          <p:cNvSpPr/>
          <p:nvPr/>
        </p:nvSpPr>
        <p:spPr>
          <a:xfrm>
            <a:off x="1554480" y="4800600"/>
            <a:ext cx="457201" cy="1188720"/>
          </a:xfrm>
          <a:prstGeom prst="rect">
            <a:avLst/>
          </a:prstGeom>
          <a:solidFill>
            <a:srgbClr val="E8A33D"/>
          </a:solidFill>
          <a:ln w="12700">
            <a:miter lim="400000"/>
          </a:ln>
        </p:spPr>
        <p:txBody>
          <a:bodyPr lIns="45719" rIns="45719"/>
          <a:lstStyle/>
          <a:p>
            <a:pPr>
              <a:defRPr sz="2300">
                <a:solidFill>
                  <a:srgbClr val="000000"/>
                </a:solidFill>
              </a:defRPr>
            </a:pPr>
          </a:p>
        </p:txBody>
      </p:sp>
      <p:sp>
        <p:nvSpPr>
          <p:cNvPr id="300" name="Text 18"/>
          <p:cNvSpPr txBox="1"/>
          <p:nvPr/>
        </p:nvSpPr>
        <p:spPr>
          <a:xfrm>
            <a:off x="411479" y="5140260"/>
            <a:ext cx="1280162" cy="5094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400">
                <a:solidFill>
                  <a:srgbClr val="1E2761"/>
                </a:solidFill>
              </a:defRPr>
            </a:pPr>
            <a:r>
              <a:t>Physical</a:t>
            </a:r>
          </a:p>
          <a:p>
            <a:pPr algn="ctr">
              <a:defRPr b="1" sz="1400">
                <a:solidFill>
                  <a:srgbClr val="1E2761"/>
                </a:solidFill>
              </a:defRPr>
            </a:pPr>
            <a:r>
              <a:t>Independence</a:t>
            </a:r>
          </a:p>
        </p:txBody>
      </p:sp>
      <p:sp>
        <p:nvSpPr>
          <p:cNvPr id="301" name="Text 19"/>
          <p:cNvSpPr txBox="1"/>
          <p:nvPr/>
        </p:nvSpPr>
        <p:spPr>
          <a:xfrm>
            <a:off x="502919" y="6536121"/>
            <a:ext cx="722376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lvl1pPr>
          </a:lstStyle>
          <a:p>
            <a:pPr/>
            <a:r>
              <a:t>Topic 3 · Data Independence</a:t>
            </a:r>
          </a:p>
        </p:txBody>
      </p:sp>
      <p:sp>
        <p:nvSpPr>
          <p:cNvPr id="302" name="Text 20"/>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14</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05"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3</a:t>
            </a:r>
          </a:p>
        </p:txBody>
      </p:sp>
      <p:sp>
        <p:nvSpPr>
          <p:cNvPr id="306"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LOGICAL DATA INDEPENDENCE</a:t>
            </a:r>
          </a:p>
        </p:txBody>
      </p:sp>
      <p:sp>
        <p:nvSpPr>
          <p:cNvPr id="307"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Shielding Applications from Schema Change</a:t>
            </a:r>
          </a:p>
        </p:txBody>
      </p:sp>
      <p:sp>
        <p:nvSpPr>
          <p:cNvPr id="308" name="Shape 4"/>
          <p:cNvSpPr/>
          <p:nvPr/>
        </p:nvSpPr>
        <p:spPr>
          <a:xfrm>
            <a:off x="457200" y="1965960"/>
            <a:ext cx="11247120" cy="1828801"/>
          </a:xfrm>
          <a:prstGeom prst="roundRect">
            <a:avLst>
              <a:gd name="adj" fmla="val 400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309" name="Text 5"/>
          <p:cNvSpPr txBox="1"/>
          <p:nvPr/>
        </p:nvSpPr>
        <p:spPr>
          <a:xfrm>
            <a:off x="777239" y="2152649"/>
            <a:ext cx="356616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Definition</a:t>
            </a:r>
          </a:p>
        </p:txBody>
      </p:sp>
      <p:sp>
        <p:nvSpPr>
          <p:cNvPr id="310" name="Text 6"/>
          <p:cNvSpPr txBox="1"/>
          <p:nvPr/>
        </p:nvSpPr>
        <p:spPr>
          <a:xfrm>
            <a:off x="777239" y="2560320"/>
            <a:ext cx="10607041" cy="621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700">
                <a:solidFill>
                  <a:srgbClr val="1E2761"/>
                </a:solidFill>
              </a:defRPr>
            </a:lvl1pPr>
          </a:lstStyle>
          <a:p>
            <a:pPr/>
            <a:r>
              <a:t>The ability to change the conceptual schema (e.g., add a table or attribute) without requiring changes to the external schemas or application programs.</a:t>
            </a:r>
          </a:p>
        </p:txBody>
      </p:sp>
      <p:sp>
        <p:nvSpPr>
          <p:cNvPr id="311" name="Shape 7"/>
          <p:cNvSpPr/>
          <p:nvPr/>
        </p:nvSpPr>
        <p:spPr>
          <a:xfrm>
            <a:off x="457200" y="4023359"/>
            <a:ext cx="11247120" cy="1874521"/>
          </a:xfrm>
          <a:prstGeom prst="roundRect">
            <a:avLst>
              <a:gd name="adj" fmla="val 3902"/>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312" name="Text 8"/>
          <p:cNvSpPr txBox="1"/>
          <p:nvPr/>
        </p:nvSpPr>
        <p:spPr>
          <a:xfrm>
            <a:off x="777239" y="4210050"/>
            <a:ext cx="3566161"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latin typeface="Cambria"/>
                <a:ea typeface="Cambria"/>
                <a:cs typeface="Cambria"/>
                <a:sym typeface="Cambria"/>
              </a:defRPr>
            </a:lvl1pPr>
          </a:lstStyle>
          <a:p>
            <a:pPr/>
            <a:r>
              <a:t>Example</a:t>
            </a:r>
          </a:p>
        </p:txBody>
      </p:sp>
      <p:sp>
        <p:nvSpPr>
          <p:cNvPr id="313" name="Text 9"/>
          <p:cNvSpPr txBox="1"/>
          <p:nvPr/>
        </p:nvSpPr>
        <p:spPr>
          <a:xfrm>
            <a:off x="777239" y="4617720"/>
            <a:ext cx="10607041" cy="621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0000"/>
              </a:lnSpc>
              <a:defRPr sz="1700">
                <a:solidFill>
                  <a:srgbClr val="1E2761"/>
                </a:solidFill>
              </a:defRPr>
            </a:lvl1pPr>
          </a:lstStyle>
          <a:p>
            <a:pPr/>
            <a:r>
              <a:t>The library adds a new Fine attribute to the Loan entity. Existing member-facing search views remain unaffected, since the change is absorbed at the conceptual level and applications never referenced that column.</a:t>
            </a:r>
          </a:p>
        </p:txBody>
      </p:sp>
      <p:sp>
        <p:nvSpPr>
          <p:cNvPr id="314" name="Text 10"/>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3 · Data Independence</a:t>
            </a:r>
          </a:p>
        </p:txBody>
      </p:sp>
      <p:sp>
        <p:nvSpPr>
          <p:cNvPr id="315" name="Text 11"/>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15</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18"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3</a:t>
            </a:r>
          </a:p>
        </p:txBody>
      </p:sp>
      <p:sp>
        <p:nvSpPr>
          <p:cNvPr id="319"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SIGNIFICANCE</a:t>
            </a:r>
          </a:p>
        </p:txBody>
      </p:sp>
      <p:sp>
        <p:nvSpPr>
          <p:cNvPr id="320"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Why It Matters — Logical vs Physical</a:t>
            </a:r>
          </a:p>
        </p:txBody>
      </p:sp>
      <p:graphicFrame>
        <p:nvGraphicFramePr>
          <p:cNvPr id="321" name="Table 0"/>
          <p:cNvGraphicFramePr/>
          <p:nvPr/>
        </p:nvGraphicFramePr>
        <p:xfrm>
          <a:off x="457200" y="1965960"/>
          <a:ext cx="11247120" cy="4114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743200"/>
                <a:gridCol w="4251960"/>
                <a:gridCol w="4251960"/>
              </a:tblGrid>
              <a:tr h="822960">
                <a:tc>
                  <a:txBody>
                    <a:bodyPr/>
                    <a:lstStyle/>
                    <a:p>
                      <a:pPr algn="l">
                        <a:defRPr sz="1800"/>
                      </a:pPr>
                      <a:r>
                        <a:rPr b="1" sz="1200">
                          <a:solidFill>
                            <a:srgbClr val="FFFFFF"/>
                          </a:solidFill>
                        </a:rPr>
                        <a:t>Aspect</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c>
                  <a:txBody>
                    <a:bodyPr/>
                    <a:lstStyle/>
                    <a:p>
                      <a:pPr algn="l">
                        <a:defRPr sz="1800"/>
                      </a:pPr>
                      <a:r>
                        <a:rPr b="1" sz="1200">
                          <a:solidFill>
                            <a:srgbClr val="FFFFFF"/>
                          </a:solidFill>
                        </a:rPr>
                        <a:t>Logical Independence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c>
                  <a:txBody>
                    <a:bodyPr/>
                    <a:lstStyle/>
                    <a:p>
                      <a:pPr algn="l">
                        <a:defRPr sz="1800"/>
                      </a:pPr>
                      <a:r>
                        <a:rPr b="1" sz="1200">
                          <a:solidFill>
                            <a:srgbClr val="FFFFFF"/>
                          </a:solidFill>
                        </a:rPr>
                        <a:t>Physical Independence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r>
              <a:tr h="822960">
                <a:tc>
                  <a:txBody>
                    <a:bodyPr/>
                    <a:lstStyle/>
                    <a:p>
                      <a:pPr algn="l">
                        <a:defRPr sz="1800"/>
                      </a:pPr>
                      <a:r>
                        <a:rPr sz="1200">
                          <a:solidFill>
                            <a:srgbClr val="1E2761"/>
                          </a:solidFill>
                        </a:rPr>
                        <a:t>Protects against</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Changes to conceptual schema</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Changes to storage / internal schema</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822960">
                <a:tc>
                  <a:txBody>
                    <a:bodyPr/>
                    <a:lstStyle/>
                    <a:p>
                      <a:pPr algn="l">
                        <a:defRPr sz="1800"/>
                      </a:pPr>
                      <a:r>
                        <a:rPr sz="1200">
                          <a:solidFill>
                            <a:srgbClr val="1E2761"/>
                          </a:solidFill>
                        </a:rPr>
                        <a:t>Typical trigger</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New entity, attribute, or constraint</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New index, file organization, or hardware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822960">
                <a:tc>
                  <a:txBody>
                    <a:bodyPr/>
                    <a:lstStyle/>
                    <a:p>
                      <a:pPr algn="l">
                        <a:defRPr sz="1800"/>
                      </a:pPr>
                      <a:r>
                        <a:rPr sz="1200">
                          <a:solidFill>
                            <a:srgbClr val="1E2761"/>
                          </a:solidFill>
                        </a:rPr>
                        <a:t>Harder to achieve?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Yes — application logic often assumes structure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No — more transparent to isolate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822960">
                <a:tc>
                  <a:txBody>
                    <a:bodyPr/>
                    <a:lstStyle/>
                    <a:p>
                      <a:pPr algn="l">
                        <a:defRPr sz="1800"/>
                      </a:pPr>
                      <a:r>
                        <a:rPr sz="1200">
                          <a:solidFill>
                            <a:srgbClr val="1E2761"/>
                          </a:solidFill>
                        </a:rPr>
                        <a:t>Key benefit</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Applications survive schema evolution</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Performance tuning without app rewrites</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bl>
          </a:graphicData>
        </a:graphic>
      </p:graphicFrame>
      <p:sp>
        <p:nvSpPr>
          <p:cNvPr id="322" name="Text 4"/>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3 · Data Independence</a:t>
            </a:r>
          </a:p>
        </p:txBody>
      </p:sp>
      <p:sp>
        <p:nvSpPr>
          <p:cNvPr id="323" name="Text 5"/>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17</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26"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4</a:t>
            </a:r>
          </a:p>
        </p:txBody>
      </p:sp>
      <p:sp>
        <p:nvSpPr>
          <p:cNvPr id="327"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TOPIC 4 OF 5</a:t>
            </a:r>
          </a:p>
        </p:txBody>
      </p:sp>
      <p:sp>
        <p:nvSpPr>
          <p:cNvPr id="328" name="Text 3"/>
          <p:cNvSpPr txBox="1"/>
          <p:nvPr/>
        </p:nvSpPr>
        <p:spPr>
          <a:xfrm>
            <a:off x="3589019" y="1795780"/>
            <a:ext cx="111556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Software Components of a DBMS</a:t>
            </a:r>
          </a:p>
        </p:txBody>
      </p:sp>
      <p:sp>
        <p:nvSpPr>
          <p:cNvPr id="329" name="Text 4"/>
          <p:cNvSpPr txBox="1"/>
          <p:nvPr/>
        </p:nvSpPr>
        <p:spPr>
          <a:xfrm>
            <a:off x="2693689" y="2694939"/>
            <a:ext cx="7927431" cy="138571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5000"/>
              </a:lnSpc>
              <a:defRPr sz="1900">
                <a:solidFill>
                  <a:srgbClr val="1E2761"/>
                </a:solidFill>
              </a:defRPr>
            </a:lvl1pPr>
          </a:lstStyle>
          <a:p>
            <a:pPr/>
            <a:r>
              <a:t>A DBMS is not one monolithic program — it is a coordinated set of software modules. Understanding the query processor, storage manager, and transaction manager explains how a single SQL statement travels from a user's keyboard down to bytes on disk, and back, safely and efficiently.</a:t>
            </a:r>
          </a:p>
        </p:txBody>
      </p:sp>
      <p:sp>
        <p:nvSpPr>
          <p:cNvPr id="330" name="Text 19"/>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4 · DBMS Software Components</a:t>
            </a:r>
          </a:p>
        </p:txBody>
      </p:sp>
      <p:sp>
        <p:nvSpPr>
          <p:cNvPr id="331" name="Text 20"/>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18</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34"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4</a:t>
            </a:r>
          </a:p>
        </p:txBody>
      </p:sp>
      <p:sp>
        <p:nvSpPr>
          <p:cNvPr id="335"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QUERY PROCESSOR</a:t>
            </a:r>
          </a:p>
        </p:txBody>
      </p:sp>
      <p:sp>
        <p:nvSpPr>
          <p:cNvPr id="336"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Turning SQL into Results</a:t>
            </a:r>
          </a:p>
        </p:txBody>
      </p:sp>
      <p:sp>
        <p:nvSpPr>
          <p:cNvPr id="337" name="Shape 4"/>
          <p:cNvSpPr/>
          <p:nvPr/>
        </p:nvSpPr>
        <p:spPr>
          <a:xfrm>
            <a:off x="457200" y="2103120"/>
            <a:ext cx="3566160" cy="3291841"/>
          </a:xfrm>
          <a:prstGeom prst="roundRect">
            <a:avLst>
              <a:gd name="adj" fmla="val 2222"/>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400">
                <a:solidFill>
                  <a:srgbClr val="000000"/>
                </a:solidFill>
              </a:defRPr>
            </a:pPr>
          </a:p>
        </p:txBody>
      </p:sp>
      <p:sp>
        <p:nvSpPr>
          <p:cNvPr id="338" name="Shape 5"/>
          <p:cNvSpPr/>
          <p:nvPr/>
        </p:nvSpPr>
        <p:spPr>
          <a:xfrm>
            <a:off x="1965960" y="2377439"/>
            <a:ext cx="548641" cy="548641"/>
          </a:xfrm>
          <a:prstGeom prst="ellipse">
            <a:avLst/>
          </a:prstGeom>
          <a:solidFill>
            <a:srgbClr val="1E2761"/>
          </a:solidFill>
          <a:ln w="12700">
            <a:miter lim="400000"/>
          </a:ln>
        </p:spPr>
        <p:txBody>
          <a:bodyPr lIns="45719" rIns="45719"/>
          <a:lstStyle/>
          <a:p>
            <a:pPr>
              <a:defRPr sz="2400">
                <a:solidFill>
                  <a:srgbClr val="000000"/>
                </a:solidFill>
              </a:defRPr>
            </a:pPr>
          </a:p>
        </p:txBody>
      </p:sp>
      <p:sp>
        <p:nvSpPr>
          <p:cNvPr id="339" name="Text 6"/>
          <p:cNvSpPr txBox="1"/>
          <p:nvPr/>
        </p:nvSpPr>
        <p:spPr>
          <a:xfrm>
            <a:off x="2011680" y="2466340"/>
            <a:ext cx="45720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900">
                <a:solidFill>
                  <a:srgbClr val="FFFFFF"/>
                </a:solidFill>
                <a:latin typeface="Cambria"/>
                <a:ea typeface="Cambria"/>
                <a:cs typeface="Cambria"/>
                <a:sym typeface="Cambria"/>
              </a:defRPr>
            </a:lvl1pPr>
          </a:lstStyle>
          <a:p>
            <a:pPr/>
            <a:r>
              <a:t>1</a:t>
            </a:r>
          </a:p>
        </p:txBody>
      </p:sp>
      <p:sp>
        <p:nvSpPr>
          <p:cNvPr id="340" name="Text 7"/>
          <p:cNvSpPr txBox="1"/>
          <p:nvPr/>
        </p:nvSpPr>
        <p:spPr>
          <a:xfrm>
            <a:off x="731519" y="3282950"/>
            <a:ext cx="3017522"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1E2761"/>
                </a:solidFill>
                <a:latin typeface="Cambria"/>
                <a:ea typeface="Cambria"/>
                <a:cs typeface="Cambria"/>
                <a:sym typeface="Cambria"/>
              </a:defRPr>
            </a:lvl1pPr>
          </a:lstStyle>
          <a:p>
            <a:pPr/>
            <a:r>
              <a:t>DDL/DML Compiler</a:t>
            </a:r>
          </a:p>
        </p:txBody>
      </p:sp>
      <p:sp>
        <p:nvSpPr>
          <p:cNvPr id="341" name="Text 8"/>
          <p:cNvSpPr txBox="1"/>
          <p:nvPr/>
        </p:nvSpPr>
        <p:spPr>
          <a:xfrm>
            <a:off x="731519" y="3840479"/>
            <a:ext cx="3017522" cy="84389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700">
                <a:solidFill>
                  <a:srgbClr val="1E2761"/>
                </a:solidFill>
              </a:defRPr>
            </a:lvl1pPr>
          </a:lstStyle>
          <a:p>
            <a:pPr/>
            <a:r>
              <a:t>Parses SQL statements into an internal representation and checks syntax.</a:t>
            </a:r>
          </a:p>
        </p:txBody>
      </p:sp>
      <p:sp>
        <p:nvSpPr>
          <p:cNvPr id="342" name="Text 9"/>
          <p:cNvSpPr txBox="1"/>
          <p:nvPr/>
        </p:nvSpPr>
        <p:spPr>
          <a:xfrm>
            <a:off x="4069079" y="3291840"/>
            <a:ext cx="22860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3000">
                <a:solidFill>
                  <a:srgbClr val="E8A33D"/>
                </a:solidFill>
                <a:latin typeface="Cambria"/>
                <a:ea typeface="Cambria"/>
                <a:cs typeface="Cambria"/>
                <a:sym typeface="Cambria"/>
              </a:defRPr>
            </a:lvl1pPr>
          </a:lstStyle>
          <a:p>
            <a:pPr/>
            <a:r>
              <a:t>→</a:t>
            </a:r>
          </a:p>
        </p:txBody>
      </p:sp>
      <p:sp>
        <p:nvSpPr>
          <p:cNvPr id="343" name="Shape 10"/>
          <p:cNvSpPr/>
          <p:nvPr/>
        </p:nvSpPr>
        <p:spPr>
          <a:xfrm>
            <a:off x="4251959" y="2103120"/>
            <a:ext cx="3566161" cy="3291841"/>
          </a:xfrm>
          <a:prstGeom prst="roundRect">
            <a:avLst>
              <a:gd name="adj" fmla="val 2222"/>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400">
                <a:solidFill>
                  <a:srgbClr val="000000"/>
                </a:solidFill>
              </a:defRPr>
            </a:pPr>
          </a:p>
        </p:txBody>
      </p:sp>
      <p:sp>
        <p:nvSpPr>
          <p:cNvPr id="344" name="Shape 11"/>
          <p:cNvSpPr/>
          <p:nvPr/>
        </p:nvSpPr>
        <p:spPr>
          <a:xfrm>
            <a:off x="5760720" y="2377439"/>
            <a:ext cx="548641" cy="548641"/>
          </a:xfrm>
          <a:prstGeom prst="ellipse">
            <a:avLst/>
          </a:prstGeom>
          <a:solidFill>
            <a:srgbClr val="1E2761"/>
          </a:solidFill>
          <a:ln w="12700">
            <a:miter lim="400000"/>
          </a:ln>
        </p:spPr>
        <p:txBody>
          <a:bodyPr lIns="45719" rIns="45719"/>
          <a:lstStyle/>
          <a:p>
            <a:pPr>
              <a:defRPr sz="2400">
                <a:solidFill>
                  <a:srgbClr val="000000"/>
                </a:solidFill>
              </a:defRPr>
            </a:pPr>
          </a:p>
        </p:txBody>
      </p:sp>
      <p:sp>
        <p:nvSpPr>
          <p:cNvPr id="345" name="Text 12"/>
          <p:cNvSpPr txBox="1"/>
          <p:nvPr/>
        </p:nvSpPr>
        <p:spPr>
          <a:xfrm>
            <a:off x="5806440" y="2466340"/>
            <a:ext cx="45720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900">
                <a:solidFill>
                  <a:srgbClr val="FFFFFF"/>
                </a:solidFill>
                <a:latin typeface="Cambria"/>
                <a:ea typeface="Cambria"/>
                <a:cs typeface="Cambria"/>
                <a:sym typeface="Cambria"/>
              </a:defRPr>
            </a:lvl1pPr>
          </a:lstStyle>
          <a:p>
            <a:pPr/>
            <a:r>
              <a:t>2</a:t>
            </a:r>
          </a:p>
        </p:txBody>
      </p:sp>
      <p:sp>
        <p:nvSpPr>
          <p:cNvPr id="346" name="Text 13"/>
          <p:cNvSpPr txBox="1"/>
          <p:nvPr/>
        </p:nvSpPr>
        <p:spPr>
          <a:xfrm>
            <a:off x="4526279" y="3282950"/>
            <a:ext cx="301752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1E2761"/>
                </a:solidFill>
                <a:latin typeface="Cambria"/>
                <a:ea typeface="Cambria"/>
                <a:cs typeface="Cambria"/>
                <a:sym typeface="Cambria"/>
              </a:defRPr>
            </a:lvl1pPr>
          </a:lstStyle>
          <a:p>
            <a:pPr/>
            <a:r>
              <a:t>Query Optimizer</a:t>
            </a:r>
          </a:p>
        </p:txBody>
      </p:sp>
      <p:sp>
        <p:nvSpPr>
          <p:cNvPr id="347" name="Text 14"/>
          <p:cNvSpPr txBox="1"/>
          <p:nvPr/>
        </p:nvSpPr>
        <p:spPr>
          <a:xfrm>
            <a:off x="4526279" y="3840479"/>
            <a:ext cx="3017521" cy="84389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700">
                <a:solidFill>
                  <a:srgbClr val="1E2761"/>
                </a:solidFill>
              </a:defRPr>
            </a:lvl1pPr>
          </a:lstStyle>
          <a:p>
            <a:pPr/>
            <a:r>
              <a:t>Evaluates alternative execution plans and picks the lowest-cost one using statistics and indexes.</a:t>
            </a:r>
          </a:p>
        </p:txBody>
      </p:sp>
      <p:sp>
        <p:nvSpPr>
          <p:cNvPr id="348" name="Text 15"/>
          <p:cNvSpPr txBox="1"/>
          <p:nvPr/>
        </p:nvSpPr>
        <p:spPr>
          <a:xfrm>
            <a:off x="7863839" y="3291840"/>
            <a:ext cx="22860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3000">
                <a:solidFill>
                  <a:srgbClr val="E8A33D"/>
                </a:solidFill>
                <a:latin typeface="Cambria"/>
                <a:ea typeface="Cambria"/>
                <a:cs typeface="Cambria"/>
                <a:sym typeface="Cambria"/>
              </a:defRPr>
            </a:lvl1pPr>
          </a:lstStyle>
          <a:p>
            <a:pPr/>
            <a:r>
              <a:t>→</a:t>
            </a:r>
          </a:p>
        </p:txBody>
      </p:sp>
      <p:sp>
        <p:nvSpPr>
          <p:cNvPr id="349" name="Shape 16"/>
          <p:cNvSpPr/>
          <p:nvPr/>
        </p:nvSpPr>
        <p:spPr>
          <a:xfrm>
            <a:off x="8046719" y="2103120"/>
            <a:ext cx="3566161" cy="3291841"/>
          </a:xfrm>
          <a:prstGeom prst="roundRect">
            <a:avLst>
              <a:gd name="adj" fmla="val 2222"/>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400">
                <a:solidFill>
                  <a:srgbClr val="000000"/>
                </a:solidFill>
              </a:defRPr>
            </a:pPr>
          </a:p>
        </p:txBody>
      </p:sp>
      <p:sp>
        <p:nvSpPr>
          <p:cNvPr id="350" name="Shape 17"/>
          <p:cNvSpPr/>
          <p:nvPr/>
        </p:nvSpPr>
        <p:spPr>
          <a:xfrm>
            <a:off x="9555480" y="2377439"/>
            <a:ext cx="548641" cy="548641"/>
          </a:xfrm>
          <a:prstGeom prst="ellipse">
            <a:avLst/>
          </a:prstGeom>
          <a:solidFill>
            <a:srgbClr val="1E2761"/>
          </a:solidFill>
          <a:ln w="12700">
            <a:miter lim="400000"/>
          </a:ln>
        </p:spPr>
        <p:txBody>
          <a:bodyPr lIns="45719" rIns="45719"/>
          <a:lstStyle/>
          <a:p>
            <a:pPr>
              <a:defRPr sz="2400">
                <a:solidFill>
                  <a:srgbClr val="000000"/>
                </a:solidFill>
              </a:defRPr>
            </a:pPr>
          </a:p>
        </p:txBody>
      </p:sp>
      <p:sp>
        <p:nvSpPr>
          <p:cNvPr id="351" name="Text 18"/>
          <p:cNvSpPr txBox="1"/>
          <p:nvPr/>
        </p:nvSpPr>
        <p:spPr>
          <a:xfrm>
            <a:off x="9601200" y="2466340"/>
            <a:ext cx="45720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900">
                <a:solidFill>
                  <a:srgbClr val="FFFFFF"/>
                </a:solidFill>
                <a:latin typeface="Cambria"/>
                <a:ea typeface="Cambria"/>
                <a:cs typeface="Cambria"/>
                <a:sym typeface="Cambria"/>
              </a:defRPr>
            </a:lvl1pPr>
          </a:lstStyle>
          <a:p>
            <a:pPr/>
            <a:r>
              <a:t>3</a:t>
            </a:r>
          </a:p>
        </p:txBody>
      </p:sp>
      <p:sp>
        <p:nvSpPr>
          <p:cNvPr id="352" name="Text 19"/>
          <p:cNvSpPr txBox="1"/>
          <p:nvPr/>
        </p:nvSpPr>
        <p:spPr>
          <a:xfrm>
            <a:off x="8321039" y="3282950"/>
            <a:ext cx="301752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1E2761"/>
                </a:solidFill>
                <a:latin typeface="Cambria"/>
                <a:ea typeface="Cambria"/>
                <a:cs typeface="Cambria"/>
                <a:sym typeface="Cambria"/>
              </a:defRPr>
            </a:lvl1pPr>
          </a:lstStyle>
          <a:p>
            <a:pPr/>
            <a:r>
              <a:t>Query Evaluation Engine</a:t>
            </a:r>
          </a:p>
        </p:txBody>
      </p:sp>
      <p:sp>
        <p:nvSpPr>
          <p:cNvPr id="353" name="Text 20"/>
          <p:cNvSpPr txBox="1"/>
          <p:nvPr/>
        </p:nvSpPr>
        <p:spPr>
          <a:xfrm>
            <a:off x="8321039" y="3840479"/>
            <a:ext cx="3017521" cy="84389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700">
                <a:solidFill>
                  <a:srgbClr val="1E2761"/>
                </a:solidFill>
              </a:defRPr>
            </a:lvl1pPr>
          </a:lstStyle>
          <a:p>
            <a:pPr/>
            <a:r>
              <a:t>Executes the chosen plan, fetching and combining data via the storage manager.</a:t>
            </a:r>
          </a:p>
        </p:txBody>
      </p:sp>
      <p:sp>
        <p:nvSpPr>
          <p:cNvPr id="354" name="Text 21"/>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4 · DBMS Software Components</a:t>
            </a:r>
          </a:p>
        </p:txBody>
      </p:sp>
      <p:sp>
        <p:nvSpPr>
          <p:cNvPr id="355" name="Text 22"/>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19</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58"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4</a:t>
            </a:r>
          </a:p>
        </p:txBody>
      </p:sp>
      <p:sp>
        <p:nvSpPr>
          <p:cNvPr id="359"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STORAGE MANAGER</a:t>
            </a:r>
          </a:p>
        </p:txBody>
      </p:sp>
      <p:sp>
        <p:nvSpPr>
          <p:cNvPr id="360"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Bridging Data and Physical Storage</a:t>
            </a:r>
          </a:p>
        </p:txBody>
      </p:sp>
      <p:sp>
        <p:nvSpPr>
          <p:cNvPr id="361" name="Shape 4"/>
          <p:cNvSpPr/>
          <p:nvPr/>
        </p:nvSpPr>
        <p:spPr>
          <a:xfrm>
            <a:off x="457200" y="1965960"/>
            <a:ext cx="11247120" cy="914401"/>
          </a:xfrm>
          <a:prstGeom prst="roundRect">
            <a:avLst>
              <a:gd name="adj" fmla="val 800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400">
                <a:solidFill>
                  <a:srgbClr val="000000"/>
                </a:solidFill>
              </a:defRPr>
            </a:pPr>
          </a:p>
        </p:txBody>
      </p:sp>
      <p:sp>
        <p:nvSpPr>
          <p:cNvPr id="362" name="Shape 5"/>
          <p:cNvSpPr/>
          <p:nvPr/>
        </p:nvSpPr>
        <p:spPr>
          <a:xfrm>
            <a:off x="685800" y="2167127"/>
            <a:ext cx="502921" cy="502922"/>
          </a:xfrm>
          <a:prstGeom prst="ellipse">
            <a:avLst/>
          </a:prstGeom>
          <a:solidFill>
            <a:srgbClr val="1E2761"/>
          </a:solidFill>
          <a:ln w="12700">
            <a:miter lim="400000"/>
          </a:ln>
        </p:spPr>
        <p:txBody>
          <a:bodyPr lIns="45719" rIns="45719"/>
          <a:lstStyle/>
          <a:p>
            <a:pPr>
              <a:defRPr sz="2400">
                <a:solidFill>
                  <a:srgbClr val="000000"/>
                </a:solidFill>
              </a:defRPr>
            </a:pPr>
          </a:p>
        </p:txBody>
      </p:sp>
      <p:sp>
        <p:nvSpPr>
          <p:cNvPr id="363" name="Text 6"/>
          <p:cNvSpPr txBox="1"/>
          <p:nvPr/>
        </p:nvSpPr>
        <p:spPr>
          <a:xfrm>
            <a:off x="731519" y="2239517"/>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800">
                <a:solidFill>
                  <a:srgbClr val="FFFFFF"/>
                </a:solidFill>
                <a:latin typeface="Cambria"/>
                <a:ea typeface="Cambria"/>
                <a:cs typeface="Cambria"/>
                <a:sym typeface="Cambria"/>
              </a:defRPr>
            </a:lvl1pPr>
          </a:lstStyle>
          <a:p>
            <a:pPr/>
            <a:r>
              <a:t>1</a:t>
            </a:r>
          </a:p>
        </p:txBody>
      </p:sp>
      <p:sp>
        <p:nvSpPr>
          <p:cNvPr id="364" name="Text 7"/>
          <p:cNvSpPr txBox="1"/>
          <p:nvPr/>
        </p:nvSpPr>
        <p:spPr>
          <a:xfrm>
            <a:off x="1417319" y="2098040"/>
            <a:ext cx="3566161" cy="650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Authorization &amp; Integrity Manager</a:t>
            </a:r>
          </a:p>
        </p:txBody>
      </p:sp>
      <p:sp>
        <p:nvSpPr>
          <p:cNvPr id="365" name="Text 8"/>
          <p:cNvSpPr txBox="1"/>
          <p:nvPr/>
        </p:nvSpPr>
        <p:spPr>
          <a:xfrm>
            <a:off x="5166359" y="2256616"/>
            <a:ext cx="621792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defRPr>
            </a:lvl1pPr>
          </a:lstStyle>
          <a:p>
            <a:pPr/>
            <a:r>
              <a:t>Checks user permissions and enforces integrity constraints.</a:t>
            </a:r>
          </a:p>
        </p:txBody>
      </p:sp>
      <p:sp>
        <p:nvSpPr>
          <p:cNvPr id="366" name="Shape 9"/>
          <p:cNvSpPr/>
          <p:nvPr/>
        </p:nvSpPr>
        <p:spPr>
          <a:xfrm>
            <a:off x="457200" y="3017520"/>
            <a:ext cx="11247120" cy="914401"/>
          </a:xfrm>
          <a:prstGeom prst="roundRect">
            <a:avLst>
              <a:gd name="adj" fmla="val 800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400">
                <a:solidFill>
                  <a:srgbClr val="000000"/>
                </a:solidFill>
              </a:defRPr>
            </a:pPr>
          </a:p>
        </p:txBody>
      </p:sp>
      <p:sp>
        <p:nvSpPr>
          <p:cNvPr id="367" name="Shape 10"/>
          <p:cNvSpPr/>
          <p:nvPr/>
        </p:nvSpPr>
        <p:spPr>
          <a:xfrm>
            <a:off x="685800" y="3218688"/>
            <a:ext cx="502921" cy="502921"/>
          </a:xfrm>
          <a:prstGeom prst="ellipse">
            <a:avLst/>
          </a:prstGeom>
          <a:solidFill>
            <a:srgbClr val="1E2761"/>
          </a:solidFill>
          <a:ln w="12700">
            <a:miter lim="400000"/>
          </a:ln>
        </p:spPr>
        <p:txBody>
          <a:bodyPr lIns="45719" rIns="45719"/>
          <a:lstStyle/>
          <a:p>
            <a:pPr>
              <a:defRPr sz="2400">
                <a:solidFill>
                  <a:srgbClr val="000000"/>
                </a:solidFill>
              </a:defRPr>
            </a:pPr>
          </a:p>
        </p:txBody>
      </p:sp>
      <p:sp>
        <p:nvSpPr>
          <p:cNvPr id="368" name="Text 11"/>
          <p:cNvSpPr txBox="1"/>
          <p:nvPr/>
        </p:nvSpPr>
        <p:spPr>
          <a:xfrm>
            <a:off x="731519" y="3291077"/>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800">
                <a:solidFill>
                  <a:srgbClr val="FFFFFF"/>
                </a:solidFill>
                <a:latin typeface="Cambria"/>
                <a:ea typeface="Cambria"/>
                <a:cs typeface="Cambria"/>
                <a:sym typeface="Cambria"/>
              </a:defRPr>
            </a:lvl1pPr>
          </a:lstStyle>
          <a:p>
            <a:pPr/>
            <a:r>
              <a:t>2</a:t>
            </a:r>
          </a:p>
        </p:txBody>
      </p:sp>
      <p:sp>
        <p:nvSpPr>
          <p:cNvPr id="369" name="Text 12"/>
          <p:cNvSpPr txBox="1"/>
          <p:nvPr/>
        </p:nvSpPr>
        <p:spPr>
          <a:xfrm>
            <a:off x="1417319" y="3289300"/>
            <a:ext cx="35661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Buffer Manager</a:t>
            </a:r>
          </a:p>
        </p:txBody>
      </p:sp>
      <p:sp>
        <p:nvSpPr>
          <p:cNvPr id="370" name="Text 13"/>
          <p:cNvSpPr txBox="1"/>
          <p:nvPr/>
        </p:nvSpPr>
        <p:spPr>
          <a:xfrm>
            <a:off x="5166359" y="3162126"/>
            <a:ext cx="6217921" cy="625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defRPr>
            </a:lvl1pPr>
          </a:lstStyle>
          <a:p>
            <a:pPr/>
            <a:r>
              <a:t>Decides which disk blocks to cache in memory and when to flush them.</a:t>
            </a:r>
          </a:p>
        </p:txBody>
      </p:sp>
      <p:sp>
        <p:nvSpPr>
          <p:cNvPr id="371" name="Shape 14"/>
          <p:cNvSpPr/>
          <p:nvPr/>
        </p:nvSpPr>
        <p:spPr>
          <a:xfrm>
            <a:off x="457200" y="4069079"/>
            <a:ext cx="11247120" cy="914401"/>
          </a:xfrm>
          <a:prstGeom prst="roundRect">
            <a:avLst>
              <a:gd name="adj" fmla="val 800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400">
                <a:solidFill>
                  <a:srgbClr val="000000"/>
                </a:solidFill>
              </a:defRPr>
            </a:pPr>
          </a:p>
        </p:txBody>
      </p:sp>
      <p:sp>
        <p:nvSpPr>
          <p:cNvPr id="372" name="Shape 15"/>
          <p:cNvSpPr/>
          <p:nvPr/>
        </p:nvSpPr>
        <p:spPr>
          <a:xfrm>
            <a:off x="685800" y="4270247"/>
            <a:ext cx="502921" cy="502921"/>
          </a:xfrm>
          <a:prstGeom prst="ellipse">
            <a:avLst/>
          </a:prstGeom>
          <a:solidFill>
            <a:srgbClr val="1E2761"/>
          </a:solidFill>
          <a:ln w="12700">
            <a:miter lim="400000"/>
          </a:ln>
        </p:spPr>
        <p:txBody>
          <a:bodyPr lIns="45719" rIns="45719"/>
          <a:lstStyle/>
          <a:p>
            <a:pPr>
              <a:defRPr sz="2400">
                <a:solidFill>
                  <a:srgbClr val="000000"/>
                </a:solidFill>
              </a:defRPr>
            </a:pPr>
          </a:p>
        </p:txBody>
      </p:sp>
      <p:sp>
        <p:nvSpPr>
          <p:cNvPr id="373" name="Text 16"/>
          <p:cNvSpPr txBox="1"/>
          <p:nvPr/>
        </p:nvSpPr>
        <p:spPr>
          <a:xfrm>
            <a:off x="731519" y="4342637"/>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800">
                <a:solidFill>
                  <a:srgbClr val="FFFFFF"/>
                </a:solidFill>
                <a:latin typeface="Cambria"/>
                <a:ea typeface="Cambria"/>
                <a:cs typeface="Cambria"/>
                <a:sym typeface="Cambria"/>
              </a:defRPr>
            </a:lvl1pPr>
          </a:lstStyle>
          <a:p>
            <a:pPr/>
            <a:r>
              <a:t>3</a:t>
            </a:r>
          </a:p>
        </p:txBody>
      </p:sp>
      <p:sp>
        <p:nvSpPr>
          <p:cNvPr id="374" name="Text 17"/>
          <p:cNvSpPr txBox="1"/>
          <p:nvPr/>
        </p:nvSpPr>
        <p:spPr>
          <a:xfrm>
            <a:off x="1417319" y="4340859"/>
            <a:ext cx="35661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File Manager</a:t>
            </a:r>
          </a:p>
        </p:txBody>
      </p:sp>
      <p:sp>
        <p:nvSpPr>
          <p:cNvPr id="375" name="Text 18"/>
          <p:cNvSpPr txBox="1"/>
          <p:nvPr/>
        </p:nvSpPr>
        <p:spPr>
          <a:xfrm>
            <a:off x="5166359" y="4213686"/>
            <a:ext cx="6217921" cy="625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defRPr>
            </a:lvl1pPr>
          </a:lstStyle>
          <a:p>
            <a:pPr/>
            <a:r>
              <a:t>Manages allocation of disk space and the file structures that hold data.</a:t>
            </a:r>
          </a:p>
        </p:txBody>
      </p:sp>
      <p:sp>
        <p:nvSpPr>
          <p:cNvPr id="376" name="Shape 19"/>
          <p:cNvSpPr/>
          <p:nvPr/>
        </p:nvSpPr>
        <p:spPr>
          <a:xfrm>
            <a:off x="457200" y="5120640"/>
            <a:ext cx="11247120" cy="914401"/>
          </a:xfrm>
          <a:prstGeom prst="roundRect">
            <a:avLst>
              <a:gd name="adj" fmla="val 800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400">
                <a:solidFill>
                  <a:srgbClr val="000000"/>
                </a:solidFill>
              </a:defRPr>
            </a:pPr>
          </a:p>
        </p:txBody>
      </p:sp>
      <p:sp>
        <p:nvSpPr>
          <p:cNvPr id="377" name="Shape 20"/>
          <p:cNvSpPr/>
          <p:nvPr/>
        </p:nvSpPr>
        <p:spPr>
          <a:xfrm>
            <a:off x="685800" y="5321808"/>
            <a:ext cx="502921" cy="502921"/>
          </a:xfrm>
          <a:prstGeom prst="ellipse">
            <a:avLst/>
          </a:prstGeom>
          <a:solidFill>
            <a:srgbClr val="1E2761"/>
          </a:solidFill>
          <a:ln w="12700">
            <a:miter lim="400000"/>
          </a:ln>
        </p:spPr>
        <p:txBody>
          <a:bodyPr lIns="45719" rIns="45719"/>
          <a:lstStyle/>
          <a:p>
            <a:pPr>
              <a:defRPr sz="2400">
                <a:solidFill>
                  <a:srgbClr val="000000"/>
                </a:solidFill>
              </a:defRPr>
            </a:pPr>
          </a:p>
        </p:txBody>
      </p:sp>
      <p:sp>
        <p:nvSpPr>
          <p:cNvPr id="378" name="Text 21"/>
          <p:cNvSpPr txBox="1"/>
          <p:nvPr/>
        </p:nvSpPr>
        <p:spPr>
          <a:xfrm>
            <a:off x="731519" y="5394197"/>
            <a:ext cx="411480" cy="358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800">
                <a:solidFill>
                  <a:srgbClr val="FFFFFF"/>
                </a:solidFill>
                <a:latin typeface="Cambria"/>
                <a:ea typeface="Cambria"/>
                <a:cs typeface="Cambria"/>
                <a:sym typeface="Cambria"/>
              </a:defRPr>
            </a:lvl1pPr>
          </a:lstStyle>
          <a:p>
            <a:pPr/>
            <a:r>
              <a:t>4</a:t>
            </a:r>
          </a:p>
        </p:txBody>
      </p:sp>
      <p:sp>
        <p:nvSpPr>
          <p:cNvPr id="379" name="Text 22"/>
          <p:cNvSpPr txBox="1"/>
          <p:nvPr/>
        </p:nvSpPr>
        <p:spPr>
          <a:xfrm>
            <a:off x="1417319" y="5392420"/>
            <a:ext cx="35661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Transaction Manager Interface</a:t>
            </a:r>
          </a:p>
        </p:txBody>
      </p:sp>
      <p:sp>
        <p:nvSpPr>
          <p:cNvPr id="380" name="Text 23"/>
          <p:cNvSpPr txBox="1"/>
          <p:nvPr/>
        </p:nvSpPr>
        <p:spPr>
          <a:xfrm>
            <a:off x="5166359" y="5265246"/>
            <a:ext cx="6217921" cy="625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800">
                <a:solidFill>
                  <a:srgbClr val="1E2761"/>
                </a:solidFill>
              </a:defRPr>
            </a:lvl1pPr>
          </a:lstStyle>
          <a:p>
            <a:pPr/>
            <a:r>
              <a:t>Hands off control to ensure changes respect concurrency &amp; recovery rules.</a:t>
            </a:r>
          </a:p>
        </p:txBody>
      </p:sp>
      <p:sp>
        <p:nvSpPr>
          <p:cNvPr id="381" name="Text 24"/>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4 · DBMS Software Components</a:t>
            </a:r>
          </a:p>
        </p:txBody>
      </p:sp>
      <p:sp>
        <p:nvSpPr>
          <p:cNvPr id="382" name="Text 25"/>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20</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4"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85"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4</a:t>
            </a:r>
          </a:p>
        </p:txBody>
      </p:sp>
      <p:sp>
        <p:nvSpPr>
          <p:cNvPr id="386"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TRANSACTION MANAGER</a:t>
            </a:r>
          </a:p>
        </p:txBody>
      </p:sp>
      <p:sp>
        <p:nvSpPr>
          <p:cNvPr id="387" name="Text 3"/>
          <p:cNvSpPr txBox="1"/>
          <p:nvPr/>
        </p:nvSpPr>
        <p:spPr>
          <a:xfrm>
            <a:off x="3639819" y="1078645"/>
            <a:ext cx="111556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Keeping Data Safe &amp; Consistent</a:t>
            </a:r>
          </a:p>
        </p:txBody>
      </p:sp>
      <p:sp>
        <p:nvSpPr>
          <p:cNvPr id="388" name="Shape 4"/>
          <p:cNvSpPr/>
          <p:nvPr/>
        </p:nvSpPr>
        <p:spPr>
          <a:xfrm>
            <a:off x="2087413" y="1913890"/>
            <a:ext cx="8713134" cy="3931921"/>
          </a:xfrm>
          <a:prstGeom prst="roundRect">
            <a:avLst>
              <a:gd name="adj" fmla="val 186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200">
                <a:solidFill>
                  <a:srgbClr val="000000"/>
                </a:solidFill>
              </a:defRPr>
            </a:pPr>
          </a:p>
        </p:txBody>
      </p:sp>
      <p:sp>
        <p:nvSpPr>
          <p:cNvPr id="389" name="Text 5"/>
          <p:cNvSpPr txBox="1"/>
          <p:nvPr/>
        </p:nvSpPr>
        <p:spPr>
          <a:xfrm>
            <a:off x="4930139" y="2895206"/>
            <a:ext cx="2331722"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solidFill>
                  <a:srgbClr val="1E2761"/>
                </a:solidFill>
                <a:latin typeface="Cambria"/>
                <a:ea typeface="Cambria"/>
                <a:cs typeface="Cambria"/>
                <a:sym typeface="Cambria"/>
              </a:defRPr>
            </a:lvl1pPr>
          </a:lstStyle>
          <a:p>
            <a:pPr/>
            <a:r>
              <a:t>Core Responsibilities</a:t>
            </a:r>
          </a:p>
        </p:txBody>
      </p:sp>
      <p:sp>
        <p:nvSpPr>
          <p:cNvPr id="390" name="Text 6"/>
          <p:cNvSpPr txBox="1"/>
          <p:nvPr/>
        </p:nvSpPr>
        <p:spPr>
          <a:xfrm>
            <a:off x="3004382" y="3367646"/>
            <a:ext cx="7223762" cy="12883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1400"/>
              </a:spcBef>
              <a:buSzPct val="100000"/>
              <a:buChar char="●"/>
              <a:defRPr sz="1700">
                <a:solidFill>
                  <a:srgbClr val="1E2761"/>
                </a:solidFill>
              </a:defRPr>
            </a:pPr>
            <a:r>
              <a:t>Concurrency Control — coordinates simultaneous transactions so they don't interfere (locking, timestamps).</a:t>
            </a:r>
          </a:p>
          <a:p>
            <a:pPr marL="342900" indent="-342900">
              <a:spcBef>
                <a:spcPts val="1400"/>
              </a:spcBef>
              <a:buSzPct val="100000"/>
              <a:buChar char="●"/>
              <a:defRPr sz="1700">
                <a:solidFill>
                  <a:srgbClr val="1E2761"/>
                </a:solidFill>
              </a:defRPr>
            </a:pPr>
            <a:r>
              <a:t>Recovery Manager — restores the database to a consistent state after a crash using logs.</a:t>
            </a:r>
          </a:p>
        </p:txBody>
      </p:sp>
      <p:sp>
        <p:nvSpPr>
          <p:cNvPr id="391" name="Text 21"/>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4 · DBMS Software Components</a:t>
            </a:r>
          </a:p>
        </p:txBody>
      </p:sp>
      <p:sp>
        <p:nvSpPr>
          <p:cNvPr id="392" name="Text 22"/>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21</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4"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395"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4</a:t>
            </a:r>
          </a:p>
        </p:txBody>
      </p:sp>
      <p:sp>
        <p:nvSpPr>
          <p:cNvPr id="396"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PUTTING IT TOGETHER</a:t>
            </a:r>
          </a:p>
        </p:txBody>
      </p:sp>
      <p:sp>
        <p:nvSpPr>
          <p:cNvPr id="397" name="Text 3"/>
          <p:cNvSpPr txBox="1"/>
          <p:nvPr/>
        </p:nvSpPr>
        <p:spPr>
          <a:xfrm>
            <a:off x="3284219" y="1671417"/>
            <a:ext cx="111556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From User Query to Disk and Back</a:t>
            </a:r>
          </a:p>
        </p:txBody>
      </p:sp>
      <p:sp>
        <p:nvSpPr>
          <p:cNvPr id="398" name="Shape 4"/>
          <p:cNvSpPr/>
          <p:nvPr/>
        </p:nvSpPr>
        <p:spPr>
          <a:xfrm>
            <a:off x="539495" y="3108960"/>
            <a:ext cx="1965962" cy="1005840"/>
          </a:xfrm>
          <a:prstGeom prst="rect">
            <a:avLst/>
          </a:prstGeom>
          <a:solidFill>
            <a:srgbClr val="E3EBFA"/>
          </a:solidFill>
          <a:ln w="19050">
            <a:solidFill>
              <a:srgbClr val="1E2761"/>
            </a:solidFill>
          </a:ln>
        </p:spPr>
        <p:txBody>
          <a:bodyPr lIns="45719" rIns="45719"/>
          <a:lstStyle/>
          <a:p>
            <a:pPr>
              <a:defRPr sz="2300">
                <a:solidFill>
                  <a:srgbClr val="000000"/>
                </a:solidFill>
              </a:defRPr>
            </a:pPr>
          </a:p>
        </p:txBody>
      </p:sp>
      <p:sp>
        <p:nvSpPr>
          <p:cNvPr id="399" name="Text 5"/>
          <p:cNvSpPr txBox="1"/>
          <p:nvPr/>
        </p:nvSpPr>
        <p:spPr>
          <a:xfrm>
            <a:off x="585215" y="3334582"/>
            <a:ext cx="1874522" cy="554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a:solidFill>
                  <a:srgbClr val="1E2761"/>
                </a:solidFill>
              </a:defRPr>
            </a:pPr>
            <a:r>
              <a:t>User / App</a:t>
            </a:r>
          </a:p>
          <a:p>
            <a:pPr algn="ctr">
              <a:defRPr b="1">
                <a:solidFill>
                  <a:srgbClr val="1E2761"/>
                </a:solidFill>
              </a:defRPr>
            </a:pPr>
            <a:r>
              <a:t>(SQL Query)</a:t>
            </a:r>
          </a:p>
        </p:txBody>
      </p:sp>
      <p:sp>
        <p:nvSpPr>
          <p:cNvPr id="400" name="Text 6"/>
          <p:cNvSpPr txBox="1"/>
          <p:nvPr/>
        </p:nvSpPr>
        <p:spPr>
          <a:xfrm>
            <a:off x="2551176" y="3375660"/>
            <a:ext cx="22860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500">
                <a:solidFill>
                  <a:srgbClr val="E8A33D"/>
                </a:solidFill>
                <a:latin typeface="Cambria"/>
                <a:ea typeface="Cambria"/>
                <a:cs typeface="Cambria"/>
                <a:sym typeface="Cambria"/>
              </a:defRPr>
            </a:lvl1pPr>
          </a:lstStyle>
          <a:p>
            <a:pPr/>
            <a:r>
              <a:t>→</a:t>
            </a:r>
          </a:p>
        </p:txBody>
      </p:sp>
      <p:sp>
        <p:nvSpPr>
          <p:cNvPr id="401" name="Shape 7"/>
          <p:cNvSpPr/>
          <p:nvPr/>
        </p:nvSpPr>
        <p:spPr>
          <a:xfrm>
            <a:off x="2825495" y="3108960"/>
            <a:ext cx="1965961" cy="1005840"/>
          </a:xfrm>
          <a:prstGeom prst="rect">
            <a:avLst/>
          </a:prstGeom>
          <a:solidFill>
            <a:srgbClr val="E3EBFA"/>
          </a:solidFill>
          <a:ln w="19050">
            <a:solidFill>
              <a:srgbClr val="1E2761"/>
            </a:solidFill>
          </a:ln>
        </p:spPr>
        <p:txBody>
          <a:bodyPr lIns="45719" rIns="45719"/>
          <a:lstStyle/>
          <a:p>
            <a:pPr>
              <a:defRPr sz="2300">
                <a:solidFill>
                  <a:srgbClr val="000000"/>
                </a:solidFill>
              </a:defRPr>
            </a:pPr>
          </a:p>
        </p:txBody>
      </p:sp>
      <p:sp>
        <p:nvSpPr>
          <p:cNvPr id="402" name="Text 8"/>
          <p:cNvSpPr txBox="1"/>
          <p:nvPr/>
        </p:nvSpPr>
        <p:spPr>
          <a:xfrm>
            <a:off x="2871215" y="3334582"/>
            <a:ext cx="1874521" cy="554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a:solidFill>
                  <a:srgbClr val="1E2761"/>
                </a:solidFill>
              </a:defRPr>
            </a:pPr>
            <a:r>
              <a:t>Query</a:t>
            </a:r>
          </a:p>
          <a:p>
            <a:pPr algn="ctr">
              <a:defRPr b="1">
                <a:solidFill>
                  <a:srgbClr val="1E2761"/>
                </a:solidFill>
              </a:defRPr>
            </a:pPr>
            <a:r>
              <a:t>Processor</a:t>
            </a:r>
          </a:p>
        </p:txBody>
      </p:sp>
      <p:sp>
        <p:nvSpPr>
          <p:cNvPr id="403" name="Text 9"/>
          <p:cNvSpPr txBox="1"/>
          <p:nvPr/>
        </p:nvSpPr>
        <p:spPr>
          <a:xfrm>
            <a:off x="4837176" y="3375660"/>
            <a:ext cx="22860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500">
                <a:solidFill>
                  <a:srgbClr val="E8A33D"/>
                </a:solidFill>
                <a:latin typeface="Cambria"/>
                <a:ea typeface="Cambria"/>
                <a:cs typeface="Cambria"/>
                <a:sym typeface="Cambria"/>
              </a:defRPr>
            </a:lvl1pPr>
          </a:lstStyle>
          <a:p>
            <a:pPr/>
            <a:r>
              <a:t>→</a:t>
            </a:r>
          </a:p>
        </p:txBody>
      </p:sp>
      <p:sp>
        <p:nvSpPr>
          <p:cNvPr id="404" name="Shape 10"/>
          <p:cNvSpPr/>
          <p:nvPr/>
        </p:nvSpPr>
        <p:spPr>
          <a:xfrm>
            <a:off x="5111496" y="3108960"/>
            <a:ext cx="1965961" cy="1005840"/>
          </a:xfrm>
          <a:prstGeom prst="rect">
            <a:avLst/>
          </a:prstGeom>
          <a:solidFill>
            <a:srgbClr val="E3EBFA"/>
          </a:solidFill>
          <a:ln w="19050">
            <a:solidFill>
              <a:srgbClr val="1E2761"/>
            </a:solidFill>
          </a:ln>
        </p:spPr>
        <p:txBody>
          <a:bodyPr lIns="45719" rIns="45719"/>
          <a:lstStyle/>
          <a:p>
            <a:pPr>
              <a:defRPr sz="2300">
                <a:solidFill>
                  <a:srgbClr val="000000"/>
                </a:solidFill>
              </a:defRPr>
            </a:pPr>
          </a:p>
        </p:txBody>
      </p:sp>
      <p:sp>
        <p:nvSpPr>
          <p:cNvPr id="405" name="Text 11"/>
          <p:cNvSpPr txBox="1"/>
          <p:nvPr/>
        </p:nvSpPr>
        <p:spPr>
          <a:xfrm>
            <a:off x="5157216" y="3334582"/>
            <a:ext cx="1874521" cy="554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a:solidFill>
                  <a:srgbClr val="1E2761"/>
                </a:solidFill>
              </a:defRPr>
            </a:pPr>
            <a:r>
              <a:t>Transaction</a:t>
            </a:r>
          </a:p>
          <a:p>
            <a:pPr algn="ctr">
              <a:defRPr b="1">
                <a:solidFill>
                  <a:srgbClr val="1E2761"/>
                </a:solidFill>
              </a:defRPr>
            </a:pPr>
            <a:r>
              <a:t>Manager</a:t>
            </a:r>
          </a:p>
        </p:txBody>
      </p:sp>
      <p:sp>
        <p:nvSpPr>
          <p:cNvPr id="406" name="Text 12"/>
          <p:cNvSpPr txBox="1"/>
          <p:nvPr/>
        </p:nvSpPr>
        <p:spPr>
          <a:xfrm>
            <a:off x="7123176" y="3375660"/>
            <a:ext cx="22860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500">
                <a:solidFill>
                  <a:srgbClr val="E8A33D"/>
                </a:solidFill>
                <a:latin typeface="Cambria"/>
                <a:ea typeface="Cambria"/>
                <a:cs typeface="Cambria"/>
                <a:sym typeface="Cambria"/>
              </a:defRPr>
            </a:lvl1pPr>
          </a:lstStyle>
          <a:p>
            <a:pPr/>
            <a:r>
              <a:t>→</a:t>
            </a:r>
          </a:p>
        </p:txBody>
      </p:sp>
      <p:sp>
        <p:nvSpPr>
          <p:cNvPr id="407" name="Shape 13"/>
          <p:cNvSpPr/>
          <p:nvPr/>
        </p:nvSpPr>
        <p:spPr>
          <a:xfrm>
            <a:off x="7397495" y="3108960"/>
            <a:ext cx="1965961" cy="1005840"/>
          </a:xfrm>
          <a:prstGeom prst="rect">
            <a:avLst/>
          </a:prstGeom>
          <a:solidFill>
            <a:srgbClr val="E3EBFA"/>
          </a:solidFill>
          <a:ln w="19050">
            <a:solidFill>
              <a:srgbClr val="1E2761"/>
            </a:solidFill>
          </a:ln>
        </p:spPr>
        <p:txBody>
          <a:bodyPr lIns="45719" rIns="45719"/>
          <a:lstStyle/>
          <a:p>
            <a:pPr>
              <a:defRPr sz="2300">
                <a:solidFill>
                  <a:srgbClr val="000000"/>
                </a:solidFill>
              </a:defRPr>
            </a:pPr>
          </a:p>
        </p:txBody>
      </p:sp>
      <p:sp>
        <p:nvSpPr>
          <p:cNvPr id="408" name="Text 14"/>
          <p:cNvSpPr txBox="1"/>
          <p:nvPr/>
        </p:nvSpPr>
        <p:spPr>
          <a:xfrm>
            <a:off x="7443215" y="3334582"/>
            <a:ext cx="1874521" cy="554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a:solidFill>
                  <a:srgbClr val="1E2761"/>
                </a:solidFill>
              </a:defRPr>
            </a:pPr>
            <a:r>
              <a:t>Storage</a:t>
            </a:r>
          </a:p>
          <a:p>
            <a:pPr algn="ctr">
              <a:defRPr b="1">
                <a:solidFill>
                  <a:srgbClr val="1E2761"/>
                </a:solidFill>
              </a:defRPr>
            </a:pPr>
            <a:r>
              <a:t>Manager</a:t>
            </a:r>
          </a:p>
        </p:txBody>
      </p:sp>
      <p:sp>
        <p:nvSpPr>
          <p:cNvPr id="409" name="Text 15"/>
          <p:cNvSpPr txBox="1"/>
          <p:nvPr/>
        </p:nvSpPr>
        <p:spPr>
          <a:xfrm>
            <a:off x="9409176" y="3375660"/>
            <a:ext cx="22860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500">
                <a:solidFill>
                  <a:srgbClr val="E8A33D"/>
                </a:solidFill>
                <a:latin typeface="Cambria"/>
                <a:ea typeface="Cambria"/>
                <a:cs typeface="Cambria"/>
                <a:sym typeface="Cambria"/>
              </a:defRPr>
            </a:lvl1pPr>
          </a:lstStyle>
          <a:p>
            <a:pPr/>
            <a:r>
              <a:t>→</a:t>
            </a:r>
          </a:p>
        </p:txBody>
      </p:sp>
      <p:sp>
        <p:nvSpPr>
          <p:cNvPr id="410" name="Shape 16"/>
          <p:cNvSpPr/>
          <p:nvPr/>
        </p:nvSpPr>
        <p:spPr>
          <a:xfrm>
            <a:off x="9683495" y="3108960"/>
            <a:ext cx="1965961" cy="1005840"/>
          </a:xfrm>
          <a:prstGeom prst="rect">
            <a:avLst/>
          </a:prstGeom>
          <a:solidFill>
            <a:srgbClr val="E3EBFA"/>
          </a:solidFill>
          <a:ln w="19050">
            <a:solidFill>
              <a:srgbClr val="1E2761"/>
            </a:solidFill>
          </a:ln>
        </p:spPr>
        <p:txBody>
          <a:bodyPr lIns="45719" rIns="45719"/>
          <a:lstStyle/>
          <a:p>
            <a:pPr>
              <a:defRPr sz="2300">
                <a:solidFill>
                  <a:srgbClr val="000000"/>
                </a:solidFill>
              </a:defRPr>
            </a:pPr>
          </a:p>
        </p:txBody>
      </p:sp>
      <p:sp>
        <p:nvSpPr>
          <p:cNvPr id="411" name="Text 17"/>
          <p:cNvSpPr txBox="1"/>
          <p:nvPr/>
        </p:nvSpPr>
        <p:spPr>
          <a:xfrm>
            <a:off x="9729215" y="3334582"/>
            <a:ext cx="1874521" cy="55459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a:solidFill>
                  <a:srgbClr val="1E2761"/>
                </a:solidFill>
              </a:defRPr>
            </a:pPr>
            <a:r>
              <a:t>Disk</a:t>
            </a:r>
          </a:p>
          <a:p>
            <a:pPr algn="ctr">
              <a:defRPr b="1">
                <a:solidFill>
                  <a:srgbClr val="1E2761"/>
                </a:solidFill>
              </a:defRPr>
            </a:pPr>
            <a:r>
              <a:t>(Data Files)</a:t>
            </a:r>
          </a:p>
        </p:txBody>
      </p:sp>
      <p:sp>
        <p:nvSpPr>
          <p:cNvPr id="412" name="Text 21"/>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4 · DBMS Software Components</a:t>
            </a:r>
          </a:p>
        </p:txBody>
      </p:sp>
      <p:sp>
        <p:nvSpPr>
          <p:cNvPr id="413" name="Text 22"/>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22</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416"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5</a:t>
            </a:r>
          </a:p>
        </p:txBody>
      </p:sp>
      <p:sp>
        <p:nvSpPr>
          <p:cNvPr id="417"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TOPIC 5 OF 5</a:t>
            </a:r>
          </a:p>
        </p:txBody>
      </p:sp>
      <p:sp>
        <p:nvSpPr>
          <p:cNvPr id="418" name="Text 3"/>
          <p:cNvSpPr txBox="1"/>
          <p:nvPr/>
        </p:nvSpPr>
        <p:spPr>
          <a:xfrm>
            <a:off x="3108959" y="22984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Strong vs Weak Entities in ER Modeling</a:t>
            </a:r>
          </a:p>
        </p:txBody>
      </p:sp>
      <p:sp>
        <p:nvSpPr>
          <p:cNvPr id="419" name="Text 4"/>
          <p:cNvSpPr txBox="1"/>
          <p:nvPr/>
        </p:nvSpPr>
        <p:spPr>
          <a:xfrm>
            <a:off x="2348438" y="3190239"/>
            <a:ext cx="8464600" cy="10339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25000"/>
              </a:lnSpc>
              <a:defRPr sz="1900">
                <a:solidFill>
                  <a:srgbClr val="1E2761"/>
                </a:solidFill>
              </a:defRPr>
            </a:lvl1pPr>
          </a:lstStyle>
          <a:p>
            <a:pPr/>
            <a:r>
              <a:t>Not every entity can stand on its own. ER modeling distinguishes strong entities, which have an independent identity and their own primary key, from weak entities, which cannot be uniquely identified without reference to another, owner entity.</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1"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422"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5</a:t>
            </a:r>
          </a:p>
        </p:txBody>
      </p:sp>
      <p:sp>
        <p:nvSpPr>
          <p:cNvPr id="423"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STRONG ENTITY</a:t>
            </a:r>
          </a:p>
        </p:txBody>
      </p:sp>
      <p:sp>
        <p:nvSpPr>
          <p:cNvPr id="424" name="Text 3"/>
          <p:cNvSpPr txBox="1"/>
          <p:nvPr/>
        </p:nvSpPr>
        <p:spPr>
          <a:xfrm>
            <a:off x="3119119" y="1190416"/>
            <a:ext cx="11155681"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Entities With an Independent Identity</a:t>
            </a:r>
          </a:p>
        </p:txBody>
      </p:sp>
      <p:sp>
        <p:nvSpPr>
          <p:cNvPr id="425" name="Shape 4"/>
          <p:cNvSpPr/>
          <p:nvPr/>
        </p:nvSpPr>
        <p:spPr>
          <a:xfrm>
            <a:off x="2697480" y="2137432"/>
            <a:ext cx="6766560" cy="3931921"/>
          </a:xfrm>
          <a:prstGeom prst="roundRect">
            <a:avLst>
              <a:gd name="adj" fmla="val 1860"/>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426" name="Text 5"/>
          <p:cNvSpPr txBox="1"/>
          <p:nvPr/>
        </p:nvSpPr>
        <p:spPr>
          <a:xfrm>
            <a:off x="3017519" y="2761856"/>
            <a:ext cx="612648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solidFill>
                  <a:srgbClr val="1E2761"/>
                </a:solidFill>
                <a:latin typeface="Cambria"/>
                <a:ea typeface="Cambria"/>
                <a:cs typeface="Cambria"/>
                <a:sym typeface="Cambria"/>
              </a:defRPr>
            </a:lvl1pPr>
          </a:lstStyle>
          <a:p>
            <a:pPr/>
            <a:r>
              <a:t>Characteristics</a:t>
            </a:r>
          </a:p>
        </p:txBody>
      </p:sp>
      <p:sp>
        <p:nvSpPr>
          <p:cNvPr id="427" name="Text 6"/>
          <p:cNvSpPr txBox="1"/>
          <p:nvPr/>
        </p:nvSpPr>
        <p:spPr>
          <a:xfrm>
            <a:off x="3017519" y="3227946"/>
            <a:ext cx="6126481" cy="22507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1200"/>
              </a:spcBef>
              <a:buSzPct val="100000"/>
              <a:buChar char="●"/>
              <a:defRPr sz="1800">
                <a:solidFill>
                  <a:srgbClr val="1E2761"/>
                </a:solidFill>
              </a:defRPr>
            </a:pPr>
            <a:r>
              <a:t>Has its own primary key that uniquely identifies every instance.</a:t>
            </a:r>
          </a:p>
          <a:p>
            <a:pPr marL="342900" indent="-342900">
              <a:spcBef>
                <a:spcPts val="1200"/>
              </a:spcBef>
              <a:buSzPct val="100000"/>
              <a:buChar char="●"/>
              <a:defRPr sz="1800">
                <a:solidFill>
                  <a:srgbClr val="1E2761"/>
                </a:solidFill>
              </a:defRPr>
            </a:pPr>
            <a:r>
              <a:t>Exists independently of any other entity in the database.</a:t>
            </a:r>
          </a:p>
          <a:p>
            <a:pPr marL="342900" indent="-342900">
              <a:spcBef>
                <a:spcPts val="1200"/>
              </a:spcBef>
              <a:buSzPct val="100000"/>
              <a:buChar char="●"/>
              <a:defRPr sz="1800">
                <a:solidFill>
                  <a:srgbClr val="1E2761"/>
                </a:solidFill>
              </a:defRPr>
            </a:pPr>
            <a:r>
              <a:t>Drawn as a single-line rectangle in ER diagrams.</a:t>
            </a:r>
          </a:p>
          <a:p>
            <a:pPr marL="342900" indent="-342900">
              <a:spcBef>
                <a:spcPts val="1200"/>
              </a:spcBef>
              <a:buSzPct val="100000"/>
              <a:buChar char="●"/>
              <a:defRPr sz="1800">
                <a:solidFill>
                  <a:srgbClr val="1E2761"/>
                </a:solidFill>
              </a:defRPr>
            </a:pPr>
            <a:r>
              <a:t>Examples: Employee (EmployeeID), Customer (CustomerID), Book (BookID).</a:t>
            </a:r>
          </a:p>
        </p:txBody>
      </p:sp>
      <p:sp>
        <p:nvSpPr>
          <p:cNvPr id="428" name="Text 10"/>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5 · Strong vs Weak Entities</a:t>
            </a:r>
          </a:p>
        </p:txBody>
      </p:sp>
      <p:sp>
        <p:nvSpPr>
          <p:cNvPr id="429" name="Text 11"/>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24</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432"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5</a:t>
            </a:r>
          </a:p>
        </p:txBody>
      </p:sp>
      <p:sp>
        <p:nvSpPr>
          <p:cNvPr id="433"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WEAK ENTITY</a:t>
            </a:r>
          </a:p>
        </p:txBody>
      </p:sp>
      <p:sp>
        <p:nvSpPr>
          <p:cNvPr id="434"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Entities That Depend on an Owner</a:t>
            </a:r>
          </a:p>
        </p:txBody>
      </p:sp>
      <p:sp>
        <p:nvSpPr>
          <p:cNvPr id="435" name="Shape 4"/>
          <p:cNvSpPr/>
          <p:nvPr/>
        </p:nvSpPr>
        <p:spPr>
          <a:xfrm>
            <a:off x="457200" y="1965960"/>
            <a:ext cx="6766560" cy="3931921"/>
          </a:xfrm>
          <a:prstGeom prst="roundRect">
            <a:avLst>
              <a:gd name="adj" fmla="val 1860"/>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2300">
                <a:solidFill>
                  <a:srgbClr val="000000"/>
                </a:solidFill>
              </a:defRPr>
            </a:pPr>
          </a:p>
        </p:txBody>
      </p:sp>
      <p:sp>
        <p:nvSpPr>
          <p:cNvPr id="436" name="Text 5"/>
          <p:cNvSpPr txBox="1"/>
          <p:nvPr/>
        </p:nvSpPr>
        <p:spPr>
          <a:xfrm>
            <a:off x="777239" y="2185669"/>
            <a:ext cx="612648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solidFill>
                  <a:srgbClr val="1E2761"/>
                </a:solidFill>
                <a:latin typeface="Cambria"/>
                <a:ea typeface="Cambria"/>
                <a:cs typeface="Cambria"/>
                <a:sym typeface="Cambria"/>
              </a:defRPr>
            </a:lvl1pPr>
          </a:lstStyle>
          <a:p>
            <a:pPr/>
            <a:r>
              <a:t>Characteristics</a:t>
            </a:r>
          </a:p>
        </p:txBody>
      </p:sp>
      <p:sp>
        <p:nvSpPr>
          <p:cNvPr id="437" name="Text 6"/>
          <p:cNvSpPr txBox="1"/>
          <p:nvPr/>
        </p:nvSpPr>
        <p:spPr>
          <a:xfrm>
            <a:off x="777239" y="2651760"/>
            <a:ext cx="6126481" cy="28349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1200"/>
              </a:spcBef>
              <a:buSzPct val="100000"/>
              <a:buChar char="●"/>
              <a:defRPr sz="1800">
                <a:solidFill>
                  <a:srgbClr val="1E2761"/>
                </a:solidFill>
              </a:defRPr>
            </a:pPr>
            <a:r>
              <a:t>Has no full primary key of its own — only a partial key (discriminator).</a:t>
            </a:r>
          </a:p>
          <a:p>
            <a:pPr marL="342900" indent="-342900">
              <a:spcBef>
                <a:spcPts val="1200"/>
              </a:spcBef>
              <a:buSzPct val="100000"/>
              <a:buChar char="●"/>
              <a:defRPr sz="1800">
                <a:solidFill>
                  <a:srgbClr val="1E2761"/>
                </a:solidFill>
              </a:defRPr>
            </a:pPr>
            <a:r>
              <a:t>Depends on an owner (identifying) entity for unique identification.</a:t>
            </a:r>
          </a:p>
          <a:p>
            <a:pPr marL="342900" indent="-342900">
              <a:spcBef>
                <a:spcPts val="1200"/>
              </a:spcBef>
              <a:buSzPct val="100000"/>
              <a:buChar char="●"/>
              <a:defRPr sz="1800">
                <a:solidFill>
                  <a:srgbClr val="1E2761"/>
                </a:solidFill>
              </a:defRPr>
            </a:pPr>
            <a:r>
              <a:t>Drawn as a double-lined rectangle; the connecting relationship is a double-lined diamond.</a:t>
            </a:r>
          </a:p>
          <a:p>
            <a:pPr marL="342900" indent="-342900">
              <a:spcBef>
                <a:spcPts val="1200"/>
              </a:spcBef>
              <a:buSzPct val="100000"/>
              <a:buChar char="●"/>
              <a:defRPr sz="1800">
                <a:solidFill>
                  <a:srgbClr val="1E2761"/>
                </a:solidFill>
              </a:defRPr>
            </a:pPr>
            <a:r>
              <a:t>Examples: Dependent (of Employee), OrderItem (of Order), Room (of Building).</a:t>
            </a:r>
          </a:p>
        </p:txBody>
      </p:sp>
      <p:sp>
        <p:nvSpPr>
          <p:cNvPr id="438" name="Shape 7"/>
          <p:cNvSpPr/>
          <p:nvPr/>
        </p:nvSpPr>
        <p:spPr>
          <a:xfrm>
            <a:off x="7680959" y="2377439"/>
            <a:ext cx="3566160" cy="731521"/>
          </a:xfrm>
          <a:prstGeom prst="rect">
            <a:avLst/>
          </a:prstGeom>
          <a:solidFill>
            <a:srgbClr val="E3EBFA"/>
          </a:solidFill>
          <a:ln w="19050">
            <a:solidFill>
              <a:srgbClr val="1E2761"/>
            </a:solidFill>
          </a:ln>
        </p:spPr>
        <p:txBody>
          <a:bodyPr lIns="45719" rIns="45719"/>
          <a:lstStyle/>
          <a:p>
            <a:pPr>
              <a:defRPr sz="2300">
                <a:solidFill>
                  <a:srgbClr val="000000"/>
                </a:solidFill>
              </a:defRPr>
            </a:pPr>
          </a:p>
        </p:txBody>
      </p:sp>
      <p:sp>
        <p:nvSpPr>
          <p:cNvPr id="439" name="Text 8"/>
          <p:cNvSpPr txBox="1"/>
          <p:nvPr/>
        </p:nvSpPr>
        <p:spPr>
          <a:xfrm>
            <a:off x="7726679" y="2465903"/>
            <a:ext cx="3474720" cy="554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a:solidFill>
                  <a:srgbClr val="1E2761"/>
                </a:solidFill>
              </a:defRPr>
            </a:pPr>
            <a:r>
              <a:t>EMPLOYEE</a:t>
            </a:r>
          </a:p>
          <a:p>
            <a:pPr algn="ctr">
              <a:defRPr b="1">
                <a:solidFill>
                  <a:srgbClr val="1E2761"/>
                </a:solidFill>
              </a:defRPr>
            </a:pPr>
            <a:r>
              <a:t>(EmployeeID — PK)</a:t>
            </a:r>
          </a:p>
        </p:txBody>
      </p:sp>
      <p:sp>
        <p:nvSpPr>
          <p:cNvPr id="440" name="Shape 9"/>
          <p:cNvSpPr/>
          <p:nvPr/>
        </p:nvSpPr>
        <p:spPr>
          <a:xfrm>
            <a:off x="9464040" y="3108959"/>
            <a:ext cx="1" cy="320041"/>
          </a:xfrm>
          <a:prstGeom prst="line">
            <a:avLst/>
          </a:prstGeom>
          <a:ln w="15875">
            <a:solidFill>
              <a:srgbClr val="5A6B85"/>
            </a:solidFill>
          </a:ln>
        </p:spPr>
        <p:txBody>
          <a:bodyPr lIns="45719" rIns="45719"/>
          <a:lstStyle/>
          <a:p>
            <a:pPr>
              <a:defRPr sz="1800">
                <a:solidFill>
                  <a:srgbClr val="000000"/>
                </a:solidFill>
              </a:defRPr>
            </a:pPr>
          </a:p>
        </p:txBody>
      </p:sp>
      <p:sp>
        <p:nvSpPr>
          <p:cNvPr id="441" name="Shape 10"/>
          <p:cNvSpPr/>
          <p:nvPr/>
        </p:nvSpPr>
        <p:spPr>
          <a:xfrm>
            <a:off x="8549640" y="3429000"/>
            <a:ext cx="1828801" cy="548641"/>
          </a:xfrm>
          <a:prstGeom prst="diamond">
            <a:avLst/>
          </a:prstGeom>
          <a:solidFill>
            <a:srgbClr val="E8A33D"/>
          </a:solidFill>
          <a:ln w="12700">
            <a:solidFill>
              <a:srgbClr val="1E2761"/>
            </a:solidFill>
          </a:ln>
        </p:spPr>
        <p:txBody>
          <a:bodyPr lIns="45719" rIns="45719"/>
          <a:lstStyle/>
          <a:p>
            <a:pPr>
              <a:defRPr sz="2300">
                <a:solidFill>
                  <a:srgbClr val="000000"/>
                </a:solidFill>
              </a:defRPr>
            </a:pPr>
          </a:p>
        </p:txBody>
      </p:sp>
      <p:sp>
        <p:nvSpPr>
          <p:cNvPr id="442" name="Text 11"/>
          <p:cNvSpPr txBox="1"/>
          <p:nvPr/>
        </p:nvSpPr>
        <p:spPr>
          <a:xfrm>
            <a:off x="8595359" y="3574219"/>
            <a:ext cx="1737361"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1E2761"/>
                </a:solidFill>
              </a:defRPr>
            </a:lvl1pPr>
          </a:lstStyle>
          <a:p>
            <a:pPr/>
            <a:r>
              <a:t>HAS</a:t>
            </a:r>
          </a:p>
        </p:txBody>
      </p:sp>
      <p:sp>
        <p:nvSpPr>
          <p:cNvPr id="443" name="Shape 12"/>
          <p:cNvSpPr/>
          <p:nvPr/>
        </p:nvSpPr>
        <p:spPr>
          <a:xfrm>
            <a:off x="9464040" y="3977640"/>
            <a:ext cx="1" cy="320041"/>
          </a:xfrm>
          <a:prstGeom prst="line">
            <a:avLst/>
          </a:prstGeom>
          <a:ln w="15875">
            <a:solidFill>
              <a:srgbClr val="5A6B85"/>
            </a:solidFill>
          </a:ln>
        </p:spPr>
        <p:txBody>
          <a:bodyPr lIns="45719" rIns="45719"/>
          <a:lstStyle/>
          <a:p>
            <a:pPr>
              <a:defRPr sz="1800">
                <a:solidFill>
                  <a:srgbClr val="000000"/>
                </a:solidFill>
              </a:defRPr>
            </a:pPr>
          </a:p>
        </p:txBody>
      </p:sp>
      <p:sp>
        <p:nvSpPr>
          <p:cNvPr id="444" name="Shape 13"/>
          <p:cNvSpPr/>
          <p:nvPr/>
        </p:nvSpPr>
        <p:spPr>
          <a:xfrm>
            <a:off x="7635240" y="4251959"/>
            <a:ext cx="3657601" cy="822961"/>
          </a:xfrm>
          <a:prstGeom prst="rect">
            <a:avLst/>
          </a:prstGeom>
          <a:ln w="19050">
            <a:solidFill>
              <a:srgbClr val="1E2761"/>
            </a:solidFill>
          </a:ln>
        </p:spPr>
        <p:txBody>
          <a:bodyPr lIns="45719" rIns="45719"/>
          <a:lstStyle/>
          <a:p>
            <a:pPr>
              <a:defRPr sz="2300">
                <a:solidFill>
                  <a:srgbClr val="000000"/>
                </a:solidFill>
              </a:defRPr>
            </a:pPr>
          </a:p>
        </p:txBody>
      </p:sp>
      <p:sp>
        <p:nvSpPr>
          <p:cNvPr id="445" name="Shape 14"/>
          <p:cNvSpPr/>
          <p:nvPr/>
        </p:nvSpPr>
        <p:spPr>
          <a:xfrm>
            <a:off x="7680959" y="4297679"/>
            <a:ext cx="3566160" cy="731521"/>
          </a:xfrm>
          <a:prstGeom prst="rect">
            <a:avLst/>
          </a:prstGeom>
          <a:solidFill>
            <a:srgbClr val="E3EBFA"/>
          </a:solidFill>
          <a:ln w="19050">
            <a:solidFill>
              <a:srgbClr val="1E2761"/>
            </a:solidFill>
          </a:ln>
        </p:spPr>
        <p:txBody>
          <a:bodyPr lIns="45719" rIns="45719"/>
          <a:lstStyle/>
          <a:p>
            <a:pPr>
              <a:defRPr sz="2300">
                <a:solidFill>
                  <a:srgbClr val="000000"/>
                </a:solidFill>
              </a:defRPr>
            </a:pPr>
          </a:p>
        </p:txBody>
      </p:sp>
      <p:sp>
        <p:nvSpPr>
          <p:cNvPr id="446" name="Text 15"/>
          <p:cNvSpPr txBox="1"/>
          <p:nvPr/>
        </p:nvSpPr>
        <p:spPr>
          <a:xfrm>
            <a:off x="7726679" y="4386143"/>
            <a:ext cx="3474720" cy="5545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a:solidFill>
                  <a:srgbClr val="1E2761"/>
                </a:solidFill>
              </a:defRPr>
            </a:pPr>
            <a:r>
              <a:t>DEPENDENT</a:t>
            </a:r>
          </a:p>
          <a:p>
            <a:pPr algn="ctr">
              <a:defRPr b="1">
                <a:solidFill>
                  <a:srgbClr val="1E2761"/>
                </a:solidFill>
              </a:defRPr>
            </a:pPr>
            <a:r>
              <a:t>(DependentName — partial key)</a:t>
            </a:r>
          </a:p>
        </p:txBody>
      </p:sp>
      <p:sp>
        <p:nvSpPr>
          <p:cNvPr id="447" name="Text 16"/>
          <p:cNvSpPr txBox="1"/>
          <p:nvPr/>
        </p:nvSpPr>
        <p:spPr>
          <a:xfrm>
            <a:off x="502919" y="6536121"/>
            <a:ext cx="722376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500"/>
            </a:lvl1pPr>
          </a:lstStyle>
          <a:p>
            <a:pPr/>
            <a:r>
              <a:t>Topic 5 · Strong vs Weak Entities</a:t>
            </a:r>
          </a:p>
        </p:txBody>
      </p:sp>
      <p:sp>
        <p:nvSpPr>
          <p:cNvPr id="448" name="Text 17"/>
          <p:cNvSpPr txBox="1"/>
          <p:nvPr/>
        </p:nvSpPr>
        <p:spPr>
          <a:xfrm>
            <a:off x="11292839" y="6536121"/>
            <a:ext cx="36576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500"/>
            </a:lvl1pPr>
          </a:lstStyle>
          <a:p>
            <a:pPr/>
            <a:r>
              <a:t>25</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451"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5</a:t>
            </a:r>
          </a:p>
        </p:txBody>
      </p:sp>
      <p:sp>
        <p:nvSpPr>
          <p:cNvPr id="452"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SIDE-BY-SIDE COMPARISON</a:t>
            </a:r>
          </a:p>
        </p:txBody>
      </p:sp>
      <p:sp>
        <p:nvSpPr>
          <p:cNvPr id="453"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Strong vs Weak Entities</a:t>
            </a:r>
          </a:p>
        </p:txBody>
      </p:sp>
      <p:graphicFrame>
        <p:nvGraphicFramePr>
          <p:cNvPr id="454" name="Table 0"/>
          <p:cNvGraphicFramePr/>
          <p:nvPr/>
        </p:nvGraphicFramePr>
        <p:xfrm>
          <a:off x="457200" y="1965960"/>
          <a:ext cx="11247120" cy="46634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926080"/>
                <a:gridCol w="4160520"/>
                <a:gridCol w="4160520"/>
              </a:tblGrid>
              <a:tr h="777240">
                <a:tc>
                  <a:txBody>
                    <a:bodyPr/>
                    <a:lstStyle/>
                    <a:p>
                      <a:pPr algn="l">
                        <a:defRPr sz="1800"/>
                      </a:pPr>
                      <a:r>
                        <a:rPr b="1" sz="1200">
                          <a:solidFill>
                            <a:srgbClr val="FFFFFF"/>
                          </a:solidFill>
                        </a:rPr>
                        <a:t>Aspect</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c>
                  <a:txBody>
                    <a:bodyPr/>
                    <a:lstStyle/>
                    <a:p>
                      <a:pPr algn="l">
                        <a:defRPr sz="1800"/>
                      </a:pPr>
                      <a:r>
                        <a:rPr b="1" sz="1200">
                          <a:solidFill>
                            <a:srgbClr val="FFFFFF"/>
                          </a:solidFill>
                        </a:rPr>
                        <a:t>Strong Entity</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c>
                  <a:txBody>
                    <a:bodyPr/>
                    <a:lstStyle/>
                    <a:p>
                      <a:pPr algn="l">
                        <a:defRPr sz="1800"/>
                      </a:pPr>
                      <a:r>
                        <a:rPr b="1" sz="1200">
                          <a:solidFill>
                            <a:srgbClr val="FFFFFF"/>
                          </a:solidFill>
                        </a:rPr>
                        <a:t>Weak Entity</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solidFill>
                      <a:srgbClr val="1E2761"/>
                    </a:solidFill>
                  </a:tcPr>
                </a:tc>
              </a:tr>
              <a:tr h="777240">
                <a:tc>
                  <a:txBody>
                    <a:bodyPr/>
                    <a:lstStyle/>
                    <a:p>
                      <a:pPr algn="l">
                        <a:defRPr sz="1800"/>
                      </a:pPr>
                      <a:r>
                        <a:rPr sz="1200">
                          <a:solidFill>
                            <a:srgbClr val="1E2761"/>
                          </a:solidFill>
                        </a:rPr>
                        <a:t>Primary Key</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Has its own</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None — uses a partial key + owner's key</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777240">
                <a:tc>
                  <a:txBody>
                    <a:bodyPr/>
                    <a:lstStyle/>
                    <a:p>
                      <a:pPr algn="l">
                        <a:defRPr sz="1800"/>
                      </a:pPr>
                      <a:r>
                        <a:rPr sz="1200">
                          <a:solidFill>
                            <a:srgbClr val="1E2761"/>
                          </a:solidFill>
                        </a:rPr>
                        <a:t>Existence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Independent</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Dependent on an owner/identifying entity</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777240">
                <a:tc>
                  <a:txBody>
                    <a:bodyPr/>
                    <a:lstStyle/>
                    <a:p>
                      <a:pPr algn="l">
                        <a:defRPr sz="1800"/>
                      </a:pPr>
                      <a:r>
                        <a:rPr sz="1200">
                          <a:solidFill>
                            <a:srgbClr val="1E2761"/>
                          </a:solidFill>
                        </a:rPr>
                        <a:t>Diagram Notation</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Single-line rectangle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Double-line rectangle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777240">
                <a:tc>
                  <a:txBody>
                    <a:bodyPr/>
                    <a:lstStyle/>
                    <a:p>
                      <a:pPr algn="l">
                        <a:defRPr sz="1800"/>
                      </a:pPr>
                      <a:r>
                        <a:rPr sz="1200">
                          <a:solidFill>
                            <a:srgbClr val="1E2761"/>
                          </a:solidFill>
                        </a:rPr>
                        <a:t>Relationship Notation</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Regular diamond</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Double-line (identifying) diamond</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r h="777240">
                <a:tc>
                  <a:txBody>
                    <a:bodyPr/>
                    <a:lstStyle/>
                    <a:p>
                      <a:pPr algn="l">
                        <a:defRPr sz="1800"/>
                      </a:pPr>
                      <a:r>
                        <a:rPr sz="1200">
                          <a:solidFill>
                            <a:srgbClr val="1E2761"/>
                          </a:solidFill>
                        </a:rPr>
                        <a:t>Example</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Employee, Customer</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c>
                  <a:txBody>
                    <a:bodyPr/>
                    <a:lstStyle/>
                    <a:p>
                      <a:pPr algn="l">
                        <a:defRPr sz="1800"/>
                      </a:pPr>
                      <a:r>
                        <a:rPr sz="1200">
                          <a:solidFill>
                            <a:srgbClr val="1E2761"/>
                          </a:solidFill>
                        </a:rPr>
                        <a:t>Dependent, OrderItem, Room</a:t>
                      </a:r>
                    </a:p>
                  </a:txBody>
                  <a:tcPr marL="45720" marR="45720" marT="45720" marB="45720" anchor="ctr" anchorCtr="0" horzOverflow="overflow">
                    <a:lnL w="12700">
                      <a:solidFill>
                        <a:srgbClr val="D6E0F5"/>
                      </a:solidFill>
                    </a:lnL>
                    <a:lnR w="12700">
                      <a:solidFill>
                        <a:srgbClr val="D6E0F5"/>
                      </a:solidFill>
                    </a:lnR>
                    <a:lnT w="12700">
                      <a:solidFill>
                        <a:srgbClr val="D6E0F5"/>
                      </a:solidFill>
                    </a:lnT>
                    <a:lnB w="12700">
                      <a:solidFill>
                        <a:srgbClr val="D6E0F5"/>
                      </a:solidFill>
                    </a:lnB>
                    <a:noFill/>
                  </a:tcPr>
                </a:tc>
              </a:tr>
            </a:tbl>
          </a:graphicData>
        </a:graphic>
      </p:graphicFrame>
      <p:sp>
        <p:nvSpPr>
          <p:cNvPr id="455" name="Text 4"/>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5 · Strong vs Weak Entities</a:t>
            </a:r>
          </a:p>
        </p:txBody>
      </p:sp>
      <p:sp>
        <p:nvSpPr>
          <p:cNvPr id="456" name="Text 5"/>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26</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8" name="Shape 0"/>
          <p:cNvSpPr/>
          <p:nvPr/>
        </p:nvSpPr>
        <p:spPr>
          <a:xfrm>
            <a:off x="457200" y="411480"/>
            <a:ext cx="502921" cy="502921"/>
          </a:xfrm>
          <a:prstGeom prst="ellipse">
            <a:avLst/>
          </a:prstGeom>
          <a:solidFill>
            <a:srgbClr val="1E2761"/>
          </a:solidFill>
          <a:ln w="12700">
            <a:miter lim="400000"/>
          </a:ln>
        </p:spPr>
        <p:txBody>
          <a:bodyPr lIns="45719" rIns="45719"/>
          <a:lstStyle/>
          <a:p>
            <a:pPr>
              <a:defRPr sz="1800">
                <a:solidFill>
                  <a:srgbClr val="000000"/>
                </a:solidFill>
              </a:defRPr>
            </a:pPr>
          </a:p>
        </p:txBody>
      </p:sp>
      <p:sp>
        <p:nvSpPr>
          <p:cNvPr id="459" name="Text 1"/>
          <p:cNvSpPr txBox="1"/>
          <p:nvPr/>
        </p:nvSpPr>
        <p:spPr>
          <a:xfrm>
            <a:off x="502919" y="496569"/>
            <a:ext cx="41148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FFFFFF"/>
                </a:solidFill>
                <a:latin typeface="Cambria"/>
                <a:ea typeface="Cambria"/>
                <a:cs typeface="Cambria"/>
                <a:sym typeface="Cambria"/>
              </a:defRPr>
            </a:lvl1pPr>
          </a:lstStyle>
          <a:p>
            <a:pPr/>
            <a:r>
              <a:t>5</a:t>
            </a:r>
          </a:p>
        </p:txBody>
      </p:sp>
      <p:sp>
        <p:nvSpPr>
          <p:cNvPr id="460" name="Text 2"/>
          <p:cNvSpPr txBox="1"/>
          <p:nvPr/>
        </p:nvSpPr>
        <p:spPr>
          <a:xfrm>
            <a:off x="1143000" y="533838"/>
            <a:ext cx="8138160"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300"/>
            </a:lvl1pPr>
          </a:lstStyle>
          <a:p>
            <a:pPr/>
            <a:r>
              <a:t>REAL-WORLD EXAMPLES</a:t>
            </a:r>
          </a:p>
        </p:txBody>
      </p:sp>
      <p:sp>
        <p:nvSpPr>
          <p:cNvPr id="461" name="Text 3"/>
          <p:cNvSpPr txBox="1"/>
          <p:nvPr/>
        </p:nvSpPr>
        <p:spPr>
          <a:xfrm>
            <a:off x="502919" y="1097280"/>
            <a:ext cx="11155682" cy="548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3000">
                <a:solidFill>
                  <a:srgbClr val="1E2761"/>
                </a:solidFill>
                <a:latin typeface="Cambria"/>
                <a:ea typeface="Cambria"/>
                <a:cs typeface="Cambria"/>
                <a:sym typeface="Cambria"/>
              </a:defRPr>
            </a:lvl1pPr>
          </a:lstStyle>
          <a:p>
            <a:pPr/>
            <a:r>
              <a:t>Owner / Weak Pairs You'll See Often</a:t>
            </a:r>
          </a:p>
        </p:txBody>
      </p:sp>
      <p:sp>
        <p:nvSpPr>
          <p:cNvPr id="462" name="Shape 4"/>
          <p:cNvSpPr/>
          <p:nvPr/>
        </p:nvSpPr>
        <p:spPr>
          <a:xfrm>
            <a:off x="457200" y="2011679"/>
            <a:ext cx="3566160" cy="3840481"/>
          </a:xfrm>
          <a:prstGeom prst="roundRect">
            <a:avLst>
              <a:gd name="adj" fmla="val 2051"/>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463" name="Shape 5"/>
          <p:cNvSpPr/>
          <p:nvPr/>
        </p:nvSpPr>
        <p:spPr>
          <a:xfrm>
            <a:off x="914400" y="2286000"/>
            <a:ext cx="2651761" cy="594360"/>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464" name="Text 6"/>
          <p:cNvSpPr txBox="1"/>
          <p:nvPr/>
        </p:nvSpPr>
        <p:spPr>
          <a:xfrm>
            <a:off x="960119" y="2470326"/>
            <a:ext cx="25603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EMPLOYEE</a:t>
            </a:r>
          </a:p>
        </p:txBody>
      </p:sp>
      <p:sp>
        <p:nvSpPr>
          <p:cNvPr id="465" name="Shape 7"/>
          <p:cNvSpPr/>
          <p:nvPr/>
        </p:nvSpPr>
        <p:spPr>
          <a:xfrm>
            <a:off x="2240279" y="2880360"/>
            <a:ext cx="1" cy="320041"/>
          </a:xfrm>
          <a:prstGeom prst="line">
            <a:avLst/>
          </a:prstGeom>
          <a:ln w="15875">
            <a:solidFill>
              <a:srgbClr val="5A6B85"/>
            </a:solidFill>
          </a:ln>
        </p:spPr>
        <p:txBody>
          <a:bodyPr lIns="45719" rIns="45719"/>
          <a:lstStyle/>
          <a:p>
            <a:pPr>
              <a:defRPr sz="1800">
                <a:solidFill>
                  <a:srgbClr val="000000"/>
                </a:solidFill>
              </a:defRPr>
            </a:pPr>
          </a:p>
        </p:txBody>
      </p:sp>
      <p:sp>
        <p:nvSpPr>
          <p:cNvPr id="466" name="Shape 8"/>
          <p:cNvSpPr/>
          <p:nvPr/>
        </p:nvSpPr>
        <p:spPr>
          <a:xfrm>
            <a:off x="1508760" y="3200400"/>
            <a:ext cx="1463040" cy="502920"/>
          </a:xfrm>
          <a:prstGeom prst="diamond">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467" name="Text 9"/>
          <p:cNvSpPr txBox="1"/>
          <p:nvPr/>
        </p:nvSpPr>
        <p:spPr>
          <a:xfrm>
            <a:off x="1554480" y="3353851"/>
            <a:ext cx="137160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1E2761"/>
                </a:solidFill>
              </a:defRPr>
            </a:lvl1pPr>
          </a:lstStyle>
          <a:p>
            <a:pPr/>
            <a:r>
              <a:t>HAS</a:t>
            </a:r>
          </a:p>
        </p:txBody>
      </p:sp>
      <p:sp>
        <p:nvSpPr>
          <p:cNvPr id="468" name="Shape 10"/>
          <p:cNvSpPr/>
          <p:nvPr/>
        </p:nvSpPr>
        <p:spPr>
          <a:xfrm>
            <a:off x="2240279" y="3703319"/>
            <a:ext cx="1" cy="274321"/>
          </a:xfrm>
          <a:prstGeom prst="line">
            <a:avLst/>
          </a:prstGeom>
          <a:ln w="15875">
            <a:solidFill>
              <a:srgbClr val="5A6B85"/>
            </a:solidFill>
          </a:ln>
        </p:spPr>
        <p:txBody>
          <a:bodyPr lIns="45719" rIns="45719"/>
          <a:lstStyle/>
          <a:p>
            <a:pPr>
              <a:defRPr sz="1800">
                <a:solidFill>
                  <a:srgbClr val="000000"/>
                </a:solidFill>
              </a:defRPr>
            </a:pPr>
          </a:p>
        </p:txBody>
      </p:sp>
      <p:sp>
        <p:nvSpPr>
          <p:cNvPr id="469" name="Shape 11"/>
          <p:cNvSpPr/>
          <p:nvPr/>
        </p:nvSpPr>
        <p:spPr>
          <a:xfrm>
            <a:off x="868680" y="3931920"/>
            <a:ext cx="2743201" cy="685801"/>
          </a:xfrm>
          <a:prstGeom prst="rect">
            <a:avLst/>
          </a:prstGeom>
          <a:ln w="19050">
            <a:solidFill>
              <a:srgbClr val="1E2761"/>
            </a:solidFill>
          </a:ln>
        </p:spPr>
        <p:txBody>
          <a:bodyPr lIns="45719" rIns="45719"/>
          <a:lstStyle/>
          <a:p>
            <a:pPr>
              <a:defRPr sz="1800">
                <a:solidFill>
                  <a:srgbClr val="000000"/>
                </a:solidFill>
              </a:defRPr>
            </a:pPr>
          </a:p>
        </p:txBody>
      </p:sp>
      <p:sp>
        <p:nvSpPr>
          <p:cNvPr id="470" name="Shape 12"/>
          <p:cNvSpPr/>
          <p:nvPr/>
        </p:nvSpPr>
        <p:spPr>
          <a:xfrm>
            <a:off x="914400" y="3977640"/>
            <a:ext cx="2651761" cy="59436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471" name="Text 13"/>
          <p:cNvSpPr txBox="1"/>
          <p:nvPr/>
        </p:nvSpPr>
        <p:spPr>
          <a:xfrm>
            <a:off x="960119" y="4161966"/>
            <a:ext cx="2560322"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DEPENDENT</a:t>
            </a:r>
          </a:p>
        </p:txBody>
      </p:sp>
      <p:sp>
        <p:nvSpPr>
          <p:cNvPr id="472" name="Text 14"/>
          <p:cNvSpPr txBox="1"/>
          <p:nvPr/>
        </p:nvSpPr>
        <p:spPr>
          <a:xfrm>
            <a:off x="777239" y="4754879"/>
            <a:ext cx="2926082" cy="3936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000">
                <a:solidFill>
                  <a:srgbClr val="1E2761"/>
                </a:solidFill>
              </a:defRPr>
            </a:lvl1pPr>
          </a:lstStyle>
          <a:p>
            <a:pPr/>
            <a:r>
              <a:t>Family members can only be identified together with the employee they belong to.</a:t>
            </a:r>
          </a:p>
        </p:txBody>
      </p:sp>
      <p:sp>
        <p:nvSpPr>
          <p:cNvPr id="473" name="Shape 15"/>
          <p:cNvSpPr/>
          <p:nvPr/>
        </p:nvSpPr>
        <p:spPr>
          <a:xfrm>
            <a:off x="4251959" y="2011679"/>
            <a:ext cx="3566161" cy="3840481"/>
          </a:xfrm>
          <a:prstGeom prst="roundRect">
            <a:avLst>
              <a:gd name="adj" fmla="val 2051"/>
            </a:avLst>
          </a:prstGeom>
          <a:solidFill>
            <a:srgbClr val="E3EBFA"/>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474" name="Shape 16"/>
          <p:cNvSpPr/>
          <p:nvPr/>
        </p:nvSpPr>
        <p:spPr>
          <a:xfrm>
            <a:off x="4709159" y="2286000"/>
            <a:ext cx="2651761" cy="594360"/>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475" name="Text 17"/>
          <p:cNvSpPr txBox="1"/>
          <p:nvPr/>
        </p:nvSpPr>
        <p:spPr>
          <a:xfrm>
            <a:off x="4754879" y="2470326"/>
            <a:ext cx="25603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ORDER</a:t>
            </a:r>
          </a:p>
        </p:txBody>
      </p:sp>
      <p:sp>
        <p:nvSpPr>
          <p:cNvPr id="476" name="Shape 18"/>
          <p:cNvSpPr/>
          <p:nvPr/>
        </p:nvSpPr>
        <p:spPr>
          <a:xfrm>
            <a:off x="6035040" y="2880360"/>
            <a:ext cx="1" cy="320041"/>
          </a:xfrm>
          <a:prstGeom prst="line">
            <a:avLst/>
          </a:prstGeom>
          <a:ln w="15875">
            <a:solidFill>
              <a:srgbClr val="5A6B85"/>
            </a:solidFill>
          </a:ln>
        </p:spPr>
        <p:txBody>
          <a:bodyPr lIns="45719" rIns="45719"/>
          <a:lstStyle/>
          <a:p>
            <a:pPr>
              <a:defRPr sz="1800">
                <a:solidFill>
                  <a:srgbClr val="000000"/>
                </a:solidFill>
              </a:defRPr>
            </a:pPr>
          </a:p>
        </p:txBody>
      </p:sp>
      <p:sp>
        <p:nvSpPr>
          <p:cNvPr id="477" name="Shape 19"/>
          <p:cNvSpPr/>
          <p:nvPr/>
        </p:nvSpPr>
        <p:spPr>
          <a:xfrm>
            <a:off x="5303520" y="3200400"/>
            <a:ext cx="1463041" cy="502920"/>
          </a:xfrm>
          <a:prstGeom prst="diamond">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478" name="Text 20"/>
          <p:cNvSpPr txBox="1"/>
          <p:nvPr/>
        </p:nvSpPr>
        <p:spPr>
          <a:xfrm>
            <a:off x="5349240" y="3353851"/>
            <a:ext cx="137160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1E2761"/>
                </a:solidFill>
              </a:defRPr>
            </a:lvl1pPr>
          </a:lstStyle>
          <a:p>
            <a:pPr/>
            <a:r>
              <a:t>HAS</a:t>
            </a:r>
          </a:p>
        </p:txBody>
      </p:sp>
      <p:sp>
        <p:nvSpPr>
          <p:cNvPr id="479" name="Shape 21"/>
          <p:cNvSpPr/>
          <p:nvPr/>
        </p:nvSpPr>
        <p:spPr>
          <a:xfrm>
            <a:off x="6035040" y="3703319"/>
            <a:ext cx="1" cy="274321"/>
          </a:xfrm>
          <a:prstGeom prst="line">
            <a:avLst/>
          </a:prstGeom>
          <a:ln w="15875">
            <a:solidFill>
              <a:srgbClr val="5A6B85"/>
            </a:solidFill>
          </a:ln>
        </p:spPr>
        <p:txBody>
          <a:bodyPr lIns="45719" rIns="45719"/>
          <a:lstStyle/>
          <a:p>
            <a:pPr>
              <a:defRPr sz="1800">
                <a:solidFill>
                  <a:srgbClr val="000000"/>
                </a:solidFill>
              </a:defRPr>
            </a:pPr>
          </a:p>
        </p:txBody>
      </p:sp>
      <p:sp>
        <p:nvSpPr>
          <p:cNvPr id="480" name="Shape 22"/>
          <p:cNvSpPr/>
          <p:nvPr/>
        </p:nvSpPr>
        <p:spPr>
          <a:xfrm>
            <a:off x="4663440" y="3931920"/>
            <a:ext cx="2743201" cy="685801"/>
          </a:xfrm>
          <a:prstGeom prst="rect">
            <a:avLst/>
          </a:prstGeom>
          <a:ln w="19050">
            <a:solidFill>
              <a:srgbClr val="1E2761"/>
            </a:solidFill>
          </a:ln>
        </p:spPr>
        <p:txBody>
          <a:bodyPr lIns="45719" rIns="45719"/>
          <a:lstStyle/>
          <a:p>
            <a:pPr>
              <a:defRPr sz="1800">
                <a:solidFill>
                  <a:srgbClr val="000000"/>
                </a:solidFill>
              </a:defRPr>
            </a:pPr>
          </a:p>
        </p:txBody>
      </p:sp>
      <p:sp>
        <p:nvSpPr>
          <p:cNvPr id="481" name="Shape 23"/>
          <p:cNvSpPr/>
          <p:nvPr/>
        </p:nvSpPr>
        <p:spPr>
          <a:xfrm>
            <a:off x="4709159" y="3977640"/>
            <a:ext cx="2651761" cy="59436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482" name="Text 24"/>
          <p:cNvSpPr txBox="1"/>
          <p:nvPr/>
        </p:nvSpPr>
        <p:spPr>
          <a:xfrm>
            <a:off x="4754879" y="4161966"/>
            <a:ext cx="25603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ORDER ITEM</a:t>
            </a:r>
          </a:p>
        </p:txBody>
      </p:sp>
      <p:sp>
        <p:nvSpPr>
          <p:cNvPr id="483" name="Text 25"/>
          <p:cNvSpPr txBox="1"/>
          <p:nvPr/>
        </p:nvSpPr>
        <p:spPr>
          <a:xfrm>
            <a:off x="4572000" y="4754879"/>
            <a:ext cx="2926081" cy="3936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000">
                <a:solidFill>
                  <a:srgbClr val="1E2761"/>
                </a:solidFill>
              </a:defRPr>
            </a:lvl1pPr>
          </a:lstStyle>
          <a:p>
            <a:pPr/>
            <a:r>
              <a:t>A line item only makes sense within the context of its parent order.</a:t>
            </a:r>
          </a:p>
        </p:txBody>
      </p:sp>
      <p:sp>
        <p:nvSpPr>
          <p:cNvPr id="484" name="Shape 26"/>
          <p:cNvSpPr/>
          <p:nvPr/>
        </p:nvSpPr>
        <p:spPr>
          <a:xfrm>
            <a:off x="8046719" y="2011679"/>
            <a:ext cx="3566161" cy="3840481"/>
          </a:xfrm>
          <a:prstGeom prst="roundRect">
            <a:avLst>
              <a:gd name="adj" fmla="val 2051"/>
            </a:avLst>
          </a:prstGeom>
          <a:solidFill>
            <a:srgbClr val="EEF3FC"/>
          </a:solidFill>
          <a:ln w="12700">
            <a:miter lim="400000"/>
          </a:ln>
          <a:effectLst>
            <a:outerShdw sx="100000" sy="100000" kx="0" ky="0" algn="b" rotWithShape="0" blurRad="76200" dist="25400" dir="5400000">
              <a:srgbClr val="1E2761">
                <a:alpha val="12000"/>
              </a:srgbClr>
            </a:outerShdw>
          </a:effectLst>
        </p:spPr>
        <p:txBody>
          <a:bodyPr lIns="45719" rIns="45719"/>
          <a:lstStyle/>
          <a:p>
            <a:pPr>
              <a:defRPr sz="1800">
                <a:solidFill>
                  <a:srgbClr val="000000"/>
                </a:solidFill>
              </a:defRPr>
            </a:pPr>
          </a:p>
        </p:txBody>
      </p:sp>
      <p:sp>
        <p:nvSpPr>
          <p:cNvPr id="485" name="Shape 27"/>
          <p:cNvSpPr/>
          <p:nvPr/>
        </p:nvSpPr>
        <p:spPr>
          <a:xfrm>
            <a:off x="8503919" y="2286000"/>
            <a:ext cx="2651761" cy="594360"/>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486" name="Text 28"/>
          <p:cNvSpPr txBox="1"/>
          <p:nvPr/>
        </p:nvSpPr>
        <p:spPr>
          <a:xfrm>
            <a:off x="8549639" y="2470326"/>
            <a:ext cx="25603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BUILDING</a:t>
            </a:r>
          </a:p>
        </p:txBody>
      </p:sp>
      <p:sp>
        <p:nvSpPr>
          <p:cNvPr id="487" name="Shape 29"/>
          <p:cNvSpPr/>
          <p:nvPr/>
        </p:nvSpPr>
        <p:spPr>
          <a:xfrm>
            <a:off x="9829800" y="2880360"/>
            <a:ext cx="1" cy="320041"/>
          </a:xfrm>
          <a:prstGeom prst="line">
            <a:avLst/>
          </a:prstGeom>
          <a:ln w="15875">
            <a:solidFill>
              <a:srgbClr val="5A6B85"/>
            </a:solidFill>
          </a:ln>
        </p:spPr>
        <p:txBody>
          <a:bodyPr lIns="45719" rIns="45719"/>
          <a:lstStyle/>
          <a:p>
            <a:pPr>
              <a:defRPr sz="1800">
                <a:solidFill>
                  <a:srgbClr val="000000"/>
                </a:solidFill>
              </a:defRPr>
            </a:pPr>
          </a:p>
        </p:txBody>
      </p:sp>
      <p:sp>
        <p:nvSpPr>
          <p:cNvPr id="488" name="Shape 30"/>
          <p:cNvSpPr/>
          <p:nvPr/>
        </p:nvSpPr>
        <p:spPr>
          <a:xfrm>
            <a:off x="9098280" y="3200400"/>
            <a:ext cx="1463041" cy="502920"/>
          </a:xfrm>
          <a:prstGeom prst="diamond">
            <a:avLst/>
          </a:prstGeom>
          <a:solidFill>
            <a:srgbClr val="E8A33D"/>
          </a:solidFill>
          <a:ln w="12700">
            <a:solidFill>
              <a:srgbClr val="1E2761"/>
            </a:solidFill>
          </a:ln>
        </p:spPr>
        <p:txBody>
          <a:bodyPr lIns="45719" rIns="45719"/>
          <a:lstStyle/>
          <a:p>
            <a:pPr>
              <a:defRPr sz="1800">
                <a:solidFill>
                  <a:srgbClr val="000000"/>
                </a:solidFill>
              </a:defRPr>
            </a:pPr>
          </a:p>
        </p:txBody>
      </p:sp>
      <p:sp>
        <p:nvSpPr>
          <p:cNvPr id="489" name="Text 31"/>
          <p:cNvSpPr txBox="1"/>
          <p:nvPr/>
        </p:nvSpPr>
        <p:spPr>
          <a:xfrm>
            <a:off x="9144000" y="3353851"/>
            <a:ext cx="1371601" cy="1960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800">
                <a:solidFill>
                  <a:srgbClr val="1E2761"/>
                </a:solidFill>
              </a:defRPr>
            </a:lvl1pPr>
          </a:lstStyle>
          <a:p>
            <a:pPr/>
            <a:r>
              <a:t>HAS</a:t>
            </a:r>
          </a:p>
        </p:txBody>
      </p:sp>
      <p:sp>
        <p:nvSpPr>
          <p:cNvPr id="490" name="Shape 32"/>
          <p:cNvSpPr/>
          <p:nvPr/>
        </p:nvSpPr>
        <p:spPr>
          <a:xfrm>
            <a:off x="9829800" y="3703319"/>
            <a:ext cx="1" cy="274321"/>
          </a:xfrm>
          <a:prstGeom prst="line">
            <a:avLst/>
          </a:prstGeom>
          <a:ln w="15875">
            <a:solidFill>
              <a:srgbClr val="5A6B85"/>
            </a:solidFill>
          </a:ln>
        </p:spPr>
        <p:txBody>
          <a:bodyPr lIns="45719" rIns="45719"/>
          <a:lstStyle/>
          <a:p>
            <a:pPr>
              <a:defRPr sz="1800">
                <a:solidFill>
                  <a:srgbClr val="000000"/>
                </a:solidFill>
              </a:defRPr>
            </a:pPr>
          </a:p>
        </p:txBody>
      </p:sp>
      <p:sp>
        <p:nvSpPr>
          <p:cNvPr id="491" name="Shape 33"/>
          <p:cNvSpPr/>
          <p:nvPr/>
        </p:nvSpPr>
        <p:spPr>
          <a:xfrm>
            <a:off x="8458200" y="3931920"/>
            <a:ext cx="2743200" cy="685801"/>
          </a:xfrm>
          <a:prstGeom prst="rect">
            <a:avLst/>
          </a:prstGeom>
          <a:ln w="19050">
            <a:solidFill>
              <a:srgbClr val="1E2761"/>
            </a:solidFill>
          </a:ln>
        </p:spPr>
        <p:txBody>
          <a:bodyPr lIns="45719" rIns="45719"/>
          <a:lstStyle/>
          <a:p>
            <a:pPr>
              <a:defRPr sz="1800">
                <a:solidFill>
                  <a:srgbClr val="000000"/>
                </a:solidFill>
              </a:defRPr>
            </a:pPr>
          </a:p>
        </p:txBody>
      </p:sp>
      <p:sp>
        <p:nvSpPr>
          <p:cNvPr id="492" name="Shape 34"/>
          <p:cNvSpPr/>
          <p:nvPr/>
        </p:nvSpPr>
        <p:spPr>
          <a:xfrm>
            <a:off x="8503919" y="3977640"/>
            <a:ext cx="2651761" cy="594361"/>
          </a:xfrm>
          <a:prstGeom prst="rect">
            <a:avLst/>
          </a:prstGeom>
          <a:solidFill>
            <a:srgbClr val="E3EBFA"/>
          </a:solidFill>
          <a:ln w="19050">
            <a:solidFill>
              <a:srgbClr val="1E2761"/>
            </a:solidFill>
          </a:ln>
        </p:spPr>
        <p:txBody>
          <a:bodyPr lIns="45719" rIns="45719"/>
          <a:lstStyle/>
          <a:p>
            <a:pPr>
              <a:defRPr sz="1800">
                <a:solidFill>
                  <a:srgbClr val="000000"/>
                </a:solidFill>
              </a:defRPr>
            </a:pPr>
          </a:p>
        </p:txBody>
      </p:sp>
      <p:sp>
        <p:nvSpPr>
          <p:cNvPr id="493" name="Text 35"/>
          <p:cNvSpPr txBox="1"/>
          <p:nvPr/>
        </p:nvSpPr>
        <p:spPr>
          <a:xfrm>
            <a:off x="8549639" y="4161966"/>
            <a:ext cx="256032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1E2761"/>
                </a:solidFill>
              </a:defRPr>
            </a:lvl1pPr>
          </a:lstStyle>
          <a:p>
            <a:pPr/>
            <a:r>
              <a:t>ROOM</a:t>
            </a:r>
          </a:p>
        </p:txBody>
      </p:sp>
      <p:sp>
        <p:nvSpPr>
          <p:cNvPr id="494" name="Text 36"/>
          <p:cNvSpPr txBox="1"/>
          <p:nvPr/>
        </p:nvSpPr>
        <p:spPr>
          <a:xfrm>
            <a:off x="8366759" y="4754879"/>
            <a:ext cx="2926081" cy="3936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000">
                <a:solidFill>
                  <a:srgbClr val="1E2761"/>
                </a:solidFill>
              </a:defRPr>
            </a:lvl1pPr>
          </a:lstStyle>
          <a:p>
            <a:pPr/>
            <a:r>
              <a:t>A room number repeats across buildings; it's unique only combined with the building.</a:t>
            </a:r>
          </a:p>
        </p:txBody>
      </p:sp>
      <p:sp>
        <p:nvSpPr>
          <p:cNvPr id="495" name="Text 37"/>
          <p:cNvSpPr txBox="1"/>
          <p:nvPr/>
        </p:nvSpPr>
        <p:spPr>
          <a:xfrm>
            <a:off x="502919" y="656086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vl1pPr>
          </a:lstStyle>
          <a:p>
            <a:pPr/>
            <a:r>
              <a:t>Topic 5 · Strong vs Weak Entities</a:t>
            </a:r>
          </a:p>
        </p:txBody>
      </p:sp>
      <p:sp>
        <p:nvSpPr>
          <p:cNvPr id="496" name="Text 38"/>
          <p:cNvSpPr txBox="1"/>
          <p:nvPr/>
        </p:nvSpPr>
        <p:spPr>
          <a:xfrm>
            <a:off x="11292839" y="6560864"/>
            <a:ext cx="365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1000"/>
            </a:lvl1pPr>
          </a:lstStyle>
          <a:p>
            <a:pPr/>
            <a:r>
              <a:t>27</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498" name="Shape 0"/>
          <p:cNvSpPr/>
          <p:nvPr/>
        </p:nvSpPr>
        <p:spPr>
          <a:xfrm>
            <a:off x="-1645921" y="-1645921"/>
            <a:ext cx="4114801" cy="4114801"/>
          </a:xfrm>
          <a:prstGeom prst="ellipse">
            <a:avLst/>
          </a:prstGeom>
          <a:solidFill>
            <a:srgbClr val="2E3A8C"/>
          </a:solidFill>
          <a:ln w="12700">
            <a:miter lim="400000"/>
          </a:ln>
        </p:spPr>
        <p:txBody>
          <a:bodyPr lIns="45719" rIns="45719"/>
          <a:lstStyle/>
          <a:p>
            <a:pPr>
              <a:defRPr sz="1800">
                <a:solidFill>
                  <a:srgbClr val="000000"/>
                </a:solidFill>
              </a:defRPr>
            </a:pPr>
          </a:p>
        </p:txBody>
      </p:sp>
      <p:sp>
        <p:nvSpPr>
          <p:cNvPr id="499" name="Shape 1"/>
          <p:cNvSpPr/>
          <p:nvPr/>
        </p:nvSpPr>
        <p:spPr>
          <a:xfrm>
            <a:off x="10058400" y="4389120"/>
            <a:ext cx="3657600" cy="3657601"/>
          </a:xfrm>
          <a:prstGeom prst="ellipse">
            <a:avLst/>
          </a:prstGeom>
          <a:solidFill>
            <a:srgbClr val="2E3A8C"/>
          </a:solidFill>
          <a:ln w="12700">
            <a:miter lim="400000"/>
          </a:ln>
        </p:spPr>
        <p:txBody>
          <a:bodyPr lIns="45719" rIns="45719"/>
          <a:lstStyle/>
          <a:p>
            <a:pPr>
              <a:defRPr sz="1800">
                <a:solidFill>
                  <a:srgbClr val="000000"/>
                </a:solidFill>
              </a:defRPr>
            </a:pPr>
          </a:p>
        </p:txBody>
      </p:sp>
      <p:sp>
        <p:nvSpPr>
          <p:cNvPr id="500" name="Text 2"/>
          <p:cNvSpPr txBox="1"/>
          <p:nvPr/>
        </p:nvSpPr>
        <p:spPr>
          <a:xfrm>
            <a:off x="792479" y="3084830"/>
            <a:ext cx="10607041" cy="688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4000">
                <a:solidFill>
                  <a:srgbClr val="FFFFFF"/>
                </a:solidFill>
                <a:latin typeface="Cambria"/>
                <a:ea typeface="Cambria"/>
                <a:cs typeface="Cambria"/>
                <a:sym typeface="Cambria"/>
              </a:defRPr>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85612B"/>
      </a:dk1>
      <a:lt1>
        <a:srgbClr val="5A6B85"/>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5A6B85"/>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